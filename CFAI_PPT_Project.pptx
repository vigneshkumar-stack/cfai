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p:bgPr>
    </p:bg>
    <p:spTree>
      <p:nvGrpSpPr>
        <p:cNvPr id="1" name=""/>
        <p:cNvGrpSpPr/>
        <p:nvPr/>
      </p:nvGrpSpPr>
      <p:grpSpPr>
        <a:xfrm>
          <a:off x="0" y="0"/>
          <a:ext cx="0" cy="0"/>
          <a:chOff x="0" y="0"/>
          <a:chExt cx="0" cy="0"/>
        </a:xfrm>
      </p:grpSpPr>
      <p:sp>
        <p:nvSpPr>
          <p:cNvPr id="2" name="Shape 0"/>
          <p:cNvSpPr/>
          <p:nvPr/>
        </p:nvSpPr>
        <p:spPr>
          <a:xfrm>
            <a:off x="-1097280" y="-1097280"/>
            <a:ext cx="3200400" cy="3200400"/>
          </a:xfrm>
          <a:prstGeom prst="ellipse">
            <a:avLst/>
          </a:prstGeom>
          <a:solidFill>
            <a:srgbClr val="028090">
              <a:alpha val="30000"/>
            </a:srgbClr>
          </a:solidFill>
          <a:ln w="12700">
            <a:solidFill>
              <a:srgbClr val="028090">
                <a:alpha val="30000"/>
              </a:srgbClr>
            </a:solidFill>
            <a:prstDash val="solid"/>
          </a:ln>
        </p:spPr>
      </p:sp>
      <p:sp>
        <p:nvSpPr>
          <p:cNvPr id="3" name="Shape 1"/>
          <p:cNvSpPr/>
          <p:nvPr/>
        </p:nvSpPr>
        <p:spPr>
          <a:xfrm>
            <a:off x="7132320" y="3474720"/>
            <a:ext cx="3200400" cy="3200400"/>
          </a:xfrm>
          <a:prstGeom prst="ellipse">
            <a:avLst/>
          </a:prstGeom>
          <a:solidFill>
            <a:srgbClr val="02C39A">
              <a:alpha val="25000"/>
            </a:srgbClr>
          </a:solidFill>
          <a:ln w="12700">
            <a:solidFill>
              <a:srgbClr val="02C39A">
                <a:alpha val="25000"/>
              </a:srgbClr>
            </a:solidFill>
            <a:prstDash val="solid"/>
          </a:ln>
        </p:spPr>
      </p:sp>
      <p:pic>
        <p:nvPicPr>
          <p:cNvPr id="4" name="Image 0" descr="/home/claude/pptx_media/ppt/media/image3.png">    </p:cNvPr>
          <p:cNvPicPr>
            <a:picLocks noChangeAspect="1"/>
          </p:cNvPicPr>
          <p:nvPr/>
        </p:nvPicPr>
        <p:blipFill>
          <a:blip r:embed="rId1"/>
          <a:stretch>
            <a:fillRect/>
          </a:stretch>
        </p:blipFill>
        <p:spPr>
          <a:xfrm>
            <a:off x="7132320" y="228600"/>
            <a:ext cx="1737360" cy="777240"/>
          </a:xfrm>
          <a:prstGeom prst="rect">
            <a:avLst/>
          </a:prstGeom>
        </p:spPr>
      </p:pic>
      <p:sp>
        <p:nvSpPr>
          <p:cNvPr id="5" name="Text 2"/>
          <p:cNvSpPr/>
          <p:nvPr/>
        </p:nvSpPr>
        <p:spPr>
          <a:xfrm>
            <a:off x="548640" y="1005840"/>
            <a:ext cx="8046720" cy="914400"/>
          </a:xfrm>
          <a:prstGeom prst="rect">
            <a:avLst/>
          </a:prstGeom>
          <a:noFill/>
          <a:ln/>
        </p:spPr>
        <p:txBody>
          <a:bodyPr wrap="square" rtlCol="0" anchor="ctr"/>
          <a:lstStyle/>
          <a:p>
            <a:pPr algn="ctr" indent="0" marL="0">
              <a:buNone/>
            </a:pPr>
            <a:r>
              <a:rPr lang="en-US" sz="5200" b="1" dirty="0">
                <a:solidFill>
                  <a:srgbClr val="02C39A"/>
                </a:solidFill>
                <a:latin typeface="Cambria" pitchFamily="34" charset="0"/>
                <a:ea typeface="Cambria" pitchFamily="34" charset="-122"/>
                <a:cs typeface="Cambria" pitchFamily="34" charset="-120"/>
              </a:rPr>
              <a:t>Exam Seating</a:t>
            </a:r>
            <a:endParaRPr lang="en-US" sz="5200" dirty="0"/>
          </a:p>
        </p:txBody>
      </p:sp>
      <p:sp>
        <p:nvSpPr>
          <p:cNvPr id="6" name="Text 3"/>
          <p:cNvSpPr/>
          <p:nvPr/>
        </p:nvSpPr>
        <p:spPr>
          <a:xfrm>
            <a:off x="548640" y="1874520"/>
            <a:ext cx="8046720" cy="914400"/>
          </a:xfrm>
          <a:prstGeom prst="rect">
            <a:avLst/>
          </a:prstGeom>
          <a:noFill/>
          <a:ln/>
        </p:spPr>
        <p:txBody>
          <a:bodyPr wrap="square"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Arrangement System</a:t>
            </a:r>
            <a:endParaRPr lang="en-US" sz="5200" dirty="0"/>
          </a:p>
        </p:txBody>
      </p:sp>
      <p:sp>
        <p:nvSpPr>
          <p:cNvPr id="7" name="Shape 4"/>
          <p:cNvSpPr/>
          <p:nvPr/>
        </p:nvSpPr>
        <p:spPr>
          <a:xfrm>
            <a:off x="3200400" y="2926080"/>
            <a:ext cx="2743200" cy="45720"/>
          </a:xfrm>
          <a:prstGeom prst="rect">
            <a:avLst/>
          </a:prstGeom>
          <a:solidFill>
            <a:srgbClr val="02C39A"/>
          </a:solidFill>
          <a:ln w="12700">
            <a:solidFill>
              <a:srgbClr val="02C39A"/>
            </a:solidFill>
            <a:prstDash val="solid"/>
          </a:ln>
        </p:spPr>
      </p:sp>
      <p:sp>
        <p:nvSpPr>
          <p:cNvPr id="8" name="Text 5"/>
          <p:cNvSpPr/>
          <p:nvPr/>
        </p:nvSpPr>
        <p:spPr>
          <a:xfrm>
            <a:off x="914400" y="3154680"/>
            <a:ext cx="7315200" cy="1371600"/>
          </a:xfrm>
          <a:prstGeom prst="rect">
            <a:avLst/>
          </a:prstGeom>
          <a:noFill/>
          <a:ln/>
        </p:spPr>
        <p:txBody>
          <a:bodyPr wrap="square" rtlCol="0" anchor="ctr"/>
          <a:lstStyle/>
          <a:p>
            <a:pPr algn="ctr" indent="0" marL="0">
              <a:buNone/>
            </a:pPr>
            <a:r>
              <a:rPr lang="en-US" sz="1600" dirty="0">
                <a:solidFill>
                  <a:srgbClr val="A8D8E8"/>
                </a:solidFill>
                <a:latin typeface="Calibri" pitchFamily="34" charset="0"/>
                <a:ea typeface="Calibri" pitchFamily="34" charset="-122"/>
                <a:cs typeface="Calibri" pitchFamily="34" charset="-120"/>
              </a:rPr>
              <a:t>2520030049 – Sarvesh Reddy</a:t>
            </a:r>
            <a:endParaRPr lang="en-US" sz="1600" dirty="0"/>
          </a:p>
          <a:p>
            <a:pPr algn="ctr" indent="0" marL="0">
              <a:buNone/>
            </a:pPr>
            <a:r>
              <a:rPr lang="en-US" sz="1600" dirty="0">
                <a:solidFill>
                  <a:srgbClr val="A8D8E8"/>
                </a:solidFill>
                <a:latin typeface="Calibri" pitchFamily="34" charset="0"/>
                <a:ea typeface="Calibri" pitchFamily="34" charset="-122"/>
                <a:cs typeface="Calibri" pitchFamily="34" charset="-120"/>
              </a:rPr>
              <a:t>2520090030 – Jagadeesh</a:t>
            </a:r>
            <a:endParaRPr lang="en-US" sz="1600" dirty="0"/>
          </a:p>
          <a:p>
            <a:pPr algn="ctr" indent="0" marL="0">
              <a:buNone/>
            </a:pPr>
            <a:r>
              <a:rPr lang="en-US" sz="1600" dirty="0">
                <a:solidFill>
                  <a:srgbClr val="A8D8E8"/>
                </a:solidFill>
                <a:latin typeface="Calibri" pitchFamily="34" charset="0"/>
                <a:ea typeface="Calibri" pitchFamily="34" charset="-122"/>
                <a:cs typeface="Calibri" pitchFamily="34" charset="-120"/>
              </a:rPr>
              <a:t>2520090071 – Vignesh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sp>
      <p:sp>
        <p:nvSpPr>
          <p:cNvPr id="3" name="Shape 1"/>
          <p:cNvSpPr/>
          <p:nvPr/>
        </p:nvSpPr>
        <p:spPr>
          <a:xfrm>
            <a:off x="0" y="0"/>
            <a:ext cx="164592" cy="685800"/>
          </a:xfrm>
          <a:prstGeom prst="rect">
            <a:avLst/>
          </a:prstGeom>
          <a:solidFill>
            <a:srgbClr val="02C39A"/>
          </a:solidFill>
          <a:ln w="12700">
            <a:solidFill>
              <a:srgbClr val="02C39A"/>
            </a:solidFill>
            <a:prstDash val="solid"/>
          </a:ln>
        </p:spPr>
      </p:sp>
      <p:sp>
        <p:nvSpPr>
          <p:cNvPr id="4" name="Text 2"/>
          <p:cNvSpPr/>
          <p:nvPr/>
        </p:nvSpPr>
        <p:spPr>
          <a:xfrm>
            <a:off x="320040" y="0"/>
            <a:ext cx="77724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Introduction</a:t>
            </a:r>
            <a:endParaRPr lang="en-US" sz="2200" dirty="0"/>
          </a:p>
        </p:txBody>
      </p:sp>
      <p:pic>
        <p:nvPicPr>
          <p:cNvPr id="5" name="Image 0" descr="/home/claude/pptx_media/ppt/media/image3.png">    </p:cNvPr>
          <p:cNvPicPr>
            <a:picLocks noChangeAspect="1"/>
          </p:cNvPicPr>
          <p:nvPr/>
        </p:nvPicPr>
        <p:blipFill>
          <a:blip r:embed="rId1"/>
          <a:stretch>
            <a:fillRect/>
          </a:stretch>
        </p:blipFill>
        <p:spPr>
          <a:xfrm>
            <a:off x="7589520" y="45720"/>
            <a:ext cx="1371600" cy="594360"/>
          </a:xfrm>
          <a:prstGeom prst="rect">
            <a:avLst/>
          </a:prstGeom>
        </p:spPr>
      </p:pic>
      <p:sp>
        <p:nvSpPr>
          <p:cNvPr id="6" name="Text 3"/>
          <p:cNvSpPr/>
          <p:nvPr/>
        </p:nvSpPr>
        <p:spPr>
          <a:xfrm>
            <a:off x="274320" y="640080"/>
            <a:ext cx="1097280" cy="1371600"/>
          </a:xfrm>
          <a:prstGeom prst="rect">
            <a:avLst/>
          </a:prstGeom>
          <a:noFill/>
          <a:ln/>
        </p:spPr>
        <p:txBody>
          <a:bodyPr wrap="square" rtlCol="0" anchor="ctr"/>
          <a:lstStyle/>
          <a:p>
            <a:pPr indent="0" marL="0">
              <a:buNone/>
            </a:pPr>
            <a:r>
              <a:rPr lang="en-US" sz="10000" b="1" dirty="0">
                <a:solidFill>
                  <a:srgbClr val="028090">
                    <a:alpha val="40000"/>
                  </a:srgbClr>
                </a:solidFill>
                <a:latin typeface="Cambria" pitchFamily="34" charset="0"/>
                <a:ea typeface="Cambria" pitchFamily="34" charset="-122"/>
                <a:cs typeface="Cambria" pitchFamily="34" charset="-120"/>
              </a:rPr>
              <a:t>“</a:t>
            </a:r>
            <a:endParaRPr lang="en-US" sz="10000" dirty="0"/>
          </a:p>
        </p:txBody>
      </p:sp>
      <p:sp>
        <p:nvSpPr>
          <p:cNvPr id="7" name="Shape 4"/>
          <p:cNvSpPr/>
          <p:nvPr/>
        </p:nvSpPr>
        <p:spPr>
          <a:xfrm>
            <a:off x="365760" y="868680"/>
            <a:ext cx="8412480" cy="3840480"/>
          </a:xfrm>
          <a:prstGeom prst="roundRect">
            <a:avLst>
              <a:gd name="adj" fmla="val 1905"/>
            </a:avLst>
          </a:prstGeom>
          <a:solidFill>
            <a:srgbClr val="FFFFFF"/>
          </a:solidFill>
          <a:ln w="12700">
            <a:solidFill>
              <a:srgbClr val="E8EFF4"/>
            </a:solidFill>
            <a:prstDash val="solid"/>
          </a:ln>
          <a:effectLst>
            <a:outerShdw sx="100000" sy="100000" kx="0" ky="0" algn="bl" rotWithShape="0" blurRad="101600" dist="25400" dir="2700000">
              <a:srgbClr val="000000">
                <a:alpha val="8000"/>
              </a:srgbClr>
            </a:outerShdw>
          </a:effectLst>
        </p:spPr>
      </p:sp>
      <p:sp>
        <p:nvSpPr>
          <p:cNvPr id="8" name="Text 5"/>
          <p:cNvSpPr/>
          <p:nvPr/>
        </p:nvSpPr>
        <p:spPr>
          <a:xfrm>
            <a:off x="640080" y="1005840"/>
            <a:ext cx="7863840" cy="3566160"/>
          </a:xfrm>
          <a:prstGeom prst="rect">
            <a:avLst/>
          </a:prstGeom>
          <a:noFill/>
          <a:ln/>
        </p:spPr>
        <p:txBody>
          <a:bodyPr wrap="square" rtlCol="0" anchor="ctr"/>
          <a:lstStyle/>
          <a:p>
            <a:pPr algn="l" indent="0" marL="0">
              <a:lnSpc>
                <a:spcPct val="130000"/>
              </a:lnSpc>
              <a:spcAft>
                <a:spcPts val="600"/>
              </a:spcAft>
              <a:buNone/>
            </a:pPr>
            <a:r>
              <a:rPr lang="en-US" sz="1500" dirty="0">
                <a:solidFill>
                  <a:srgbClr val="2D4A6B"/>
                </a:solidFill>
                <a:latin typeface="Calibri" pitchFamily="34" charset="0"/>
                <a:ea typeface="Calibri" pitchFamily="34" charset="-122"/>
                <a:cs typeface="Calibri" pitchFamily="34" charset="-120"/>
              </a:rPr>
              <a:t>The Examination Seating Arrangement System is designed to automate the process of arranging students during examinations. It helps educational institutions manage seating efficiently and reduce manual effort. The system stores student and room details and automatically allocates seats based on availability. It minimizes errors and avoids confusion during examinations. The project improves organization, saves time, and ensures proper seating management. This system is highly useful for schools, colleges, and universities during examinations.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sp>
      <p:sp>
        <p:nvSpPr>
          <p:cNvPr id="3" name="Shape 1"/>
          <p:cNvSpPr/>
          <p:nvPr/>
        </p:nvSpPr>
        <p:spPr>
          <a:xfrm>
            <a:off x="0" y="0"/>
            <a:ext cx="164592" cy="685800"/>
          </a:xfrm>
          <a:prstGeom prst="rect">
            <a:avLst/>
          </a:prstGeom>
          <a:solidFill>
            <a:srgbClr val="02C39A"/>
          </a:solidFill>
          <a:ln w="12700">
            <a:solidFill>
              <a:srgbClr val="02C39A"/>
            </a:solidFill>
            <a:prstDash val="solid"/>
          </a:ln>
        </p:spPr>
      </p:sp>
      <p:sp>
        <p:nvSpPr>
          <p:cNvPr id="4" name="Text 2"/>
          <p:cNvSpPr/>
          <p:nvPr/>
        </p:nvSpPr>
        <p:spPr>
          <a:xfrm>
            <a:off x="320040" y="0"/>
            <a:ext cx="77724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Abstract</a:t>
            </a:r>
            <a:endParaRPr lang="en-US" sz="2200" dirty="0"/>
          </a:p>
        </p:txBody>
      </p:sp>
      <p:pic>
        <p:nvPicPr>
          <p:cNvPr id="5" name="Image 0" descr="/home/claude/pptx_media/ppt/media/image3.png">    </p:cNvPr>
          <p:cNvPicPr>
            <a:picLocks noChangeAspect="1"/>
          </p:cNvPicPr>
          <p:nvPr/>
        </p:nvPicPr>
        <p:blipFill>
          <a:blip r:embed="rId1"/>
          <a:stretch>
            <a:fillRect/>
          </a:stretch>
        </p:blipFill>
        <p:spPr>
          <a:xfrm>
            <a:off x="7589520" y="45720"/>
            <a:ext cx="1371600" cy="594360"/>
          </a:xfrm>
          <a:prstGeom prst="rect">
            <a:avLst/>
          </a:prstGeom>
        </p:spPr>
      </p:pic>
      <p:sp>
        <p:nvSpPr>
          <p:cNvPr id="6" name="Shape 3"/>
          <p:cNvSpPr/>
          <p:nvPr/>
        </p:nvSpPr>
        <p:spPr>
          <a:xfrm>
            <a:off x="365760" y="868680"/>
            <a:ext cx="4206240" cy="1170432"/>
          </a:xfrm>
          <a:prstGeom prst="roundRect">
            <a:avLst>
              <a:gd name="adj" fmla="val 6250"/>
            </a:avLst>
          </a:prstGeom>
          <a:solidFill>
            <a:srgbClr val="FFFFFF"/>
          </a:solidFill>
          <a:ln w="12700">
            <a:solidFill>
              <a:srgbClr val="E8EFF4"/>
            </a:solidFill>
            <a:prstDash val="solid"/>
          </a:ln>
          <a:effectLst>
            <a:outerShdw sx="100000" sy="100000" kx="0" ky="0" algn="bl" rotWithShape="0" blurRad="76200" dist="25400" dir="2700000">
              <a:srgbClr val="000000">
                <a:alpha val="7000"/>
              </a:srgbClr>
            </a:outerShdw>
          </a:effectLst>
        </p:spPr>
      </p:sp>
      <p:sp>
        <p:nvSpPr>
          <p:cNvPr id="7" name="Shape 4"/>
          <p:cNvSpPr/>
          <p:nvPr/>
        </p:nvSpPr>
        <p:spPr>
          <a:xfrm>
            <a:off x="475488" y="1179576"/>
            <a:ext cx="438912" cy="438912"/>
          </a:xfrm>
          <a:prstGeom prst="ellipse">
            <a:avLst/>
          </a:prstGeom>
          <a:solidFill>
            <a:srgbClr val="028090"/>
          </a:solidFill>
          <a:ln w="12700">
            <a:solidFill>
              <a:srgbClr val="028090"/>
            </a:solidFill>
            <a:prstDash val="solid"/>
          </a:ln>
        </p:spPr>
      </p:sp>
      <p:sp>
        <p:nvSpPr>
          <p:cNvPr id="8" name="Text 5"/>
          <p:cNvSpPr/>
          <p:nvPr/>
        </p:nvSpPr>
        <p:spPr>
          <a:xfrm>
            <a:off x="475488" y="1179576"/>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24128" y="978408"/>
            <a:ext cx="3401568" cy="950976"/>
          </a:xfrm>
          <a:prstGeom prst="rect">
            <a:avLst/>
          </a:prstGeom>
          <a:noFill/>
          <a:ln/>
        </p:spPr>
        <p:txBody>
          <a:bodyPr wrap="square" rtlCol="0" anchor="ctr"/>
          <a:lstStyle/>
          <a:p>
            <a:pPr indent="0" marL="0">
              <a:buNone/>
            </a:pPr>
            <a:r>
              <a:rPr lang="en-US" sz="1250" dirty="0">
                <a:solidFill>
                  <a:srgbClr val="2D4A6B"/>
                </a:solidFill>
                <a:latin typeface="Calibri" pitchFamily="34" charset="0"/>
                <a:ea typeface="Calibri" pitchFamily="34" charset="-122"/>
                <a:cs typeface="Calibri" pitchFamily="34" charset="-120"/>
              </a:rPr>
              <a:t>The Examination Seating Arrangement System helps automate student seating during examinations.</a:t>
            </a:r>
            <a:endParaRPr lang="en-US" sz="1250" dirty="0"/>
          </a:p>
        </p:txBody>
      </p:sp>
      <p:sp>
        <p:nvSpPr>
          <p:cNvPr id="10" name="Shape 7"/>
          <p:cNvSpPr/>
          <p:nvPr/>
        </p:nvSpPr>
        <p:spPr>
          <a:xfrm>
            <a:off x="4754880" y="868680"/>
            <a:ext cx="4206240" cy="1170432"/>
          </a:xfrm>
          <a:prstGeom prst="roundRect">
            <a:avLst>
              <a:gd name="adj" fmla="val 6250"/>
            </a:avLst>
          </a:prstGeom>
          <a:solidFill>
            <a:srgbClr val="FFFFFF"/>
          </a:solidFill>
          <a:ln w="12700">
            <a:solidFill>
              <a:srgbClr val="E8EFF4"/>
            </a:solidFill>
            <a:prstDash val="solid"/>
          </a:ln>
          <a:effectLst>
            <a:outerShdw sx="100000" sy="100000" kx="0" ky="0" algn="bl" rotWithShape="0" blurRad="76200" dist="25400" dir="2700000">
              <a:srgbClr val="000000">
                <a:alpha val="7000"/>
              </a:srgbClr>
            </a:outerShdw>
          </a:effectLst>
        </p:spPr>
      </p:sp>
      <p:sp>
        <p:nvSpPr>
          <p:cNvPr id="11" name="Shape 8"/>
          <p:cNvSpPr/>
          <p:nvPr/>
        </p:nvSpPr>
        <p:spPr>
          <a:xfrm>
            <a:off x="4864608" y="1179576"/>
            <a:ext cx="438912" cy="438912"/>
          </a:xfrm>
          <a:prstGeom prst="ellipse">
            <a:avLst/>
          </a:prstGeom>
          <a:solidFill>
            <a:srgbClr val="028090"/>
          </a:solidFill>
          <a:ln w="12700">
            <a:solidFill>
              <a:srgbClr val="028090"/>
            </a:solidFill>
            <a:prstDash val="solid"/>
          </a:ln>
        </p:spPr>
      </p:sp>
      <p:sp>
        <p:nvSpPr>
          <p:cNvPr id="12" name="Text 9"/>
          <p:cNvSpPr/>
          <p:nvPr/>
        </p:nvSpPr>
        <p:spPr>
          <a:xfrm>
            <a:off x="4864608" y="1179576"/>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5413248" y="978408"/>
            <a:ext cx="3401568" cy="950976"/>
          </a:xfrm>
          <a:prstGeom prst="rect">
            <a:avLst/>
          </a:prstGeom>
          <a:noFill/>
          <a:ln/>
        </p:spPr>
        <p:txBody>
          <a:bodyPr wrap="square" rtlCol="0" anchor="ctr"/>
          <a:lstStyle/>
          <a:p>
            <a:pPr indent="0" marL="0">
              <a:buNone/>
            </a:pPr>
            <a:r>
              <a:rPr lang="en-US" sz="1250" dirty="0">
                <a:solidFill>
                  <a:srgbClr val="2D4A6B"/>
                </a:solidFill>
                <a:latin typeface="Calibri" pitchFamily="34" charset="0"/>
                <a:ea typeface="Calibri" pitchFamily="34" charset="-122"/>
                <a:cs typeface="Calibri" pitchFamily="34" charset="-120"/>
              </a:rPr>
              <a:t>It stores student details, room information, and seating capacity systematically.</a:t>
            </a:r>
            <a:endParaRPr lang="en-US" sz="1250" dirty="0"/>
          </a:p>
        </p:txBody>
      </p:sp>
      <p:sp>
        <p:nvSpPr>
          <p:cNvPr id="14" name="Shape 11"/>
          <p:cNvSpPr/>
          <p:nvPr/>
        </p:nvSpPr>
        <p:spPr>
          <a:xfrm>
            <a:off x="365760" y="2194560"/>
            <a:ext cx="4206240" cy="1170432"/>
          </a:xfrm>
          <a:prstGeom prst="roundRect">
            <a:avLst>
              <a:gd name="adj" fmla="val 6250"/>
            </a:avLst>
          </a:prstGeom>
          <a:solidFill>
            <a:srgbClr val="FFFFFF"/>
          </a:solidFill>
          <a:ln w="12700">
            <a:solidFill>
              <a:srgbClr val="E8EFF4"/>
            </a:solidFill>
            <a:prstDash val="solid"/>
          </a:ln>
          <a:effectLst>
            <a:outerShdw sx="100000" sy="100000" kx="0" ky="0" algn="bl" rotWithShape="0" blurRad="76200" dist="25400" dir="2700000">
              <a:srgbClr val="000000">
                <a:alpha val="7000"/>
              </a:srgbClr>
            </a:outerShdw>
          </a:effectLst>
        </p:spPr>
      </p:sp>
      <p:sp>
        <p:nvSpPr>
          <p:cNvPr id="15" name="Shape 12"/>
          <p:cNvSpPr/>
          <p:nvPr/>
        </p:nvSpPr>
        <p:spPr>
          <a:xfrm>
            <a:off x="475488" y="2505456"/>
            <a:ext cx="438912" cy="438912"/>
          </a:xfrm>
          <a:prstGeom prst="ellipse">
            <a:avLst/>
          </a:prstGeom>
          <a:solidFill>
            <a:srgbClr val="028090"/>
          </a:solidFill>
          <a:ln w="12700">
            <a:solidFill>
              <a:srgbClr val="028090"/>
            </a:solidFill>
            <a:prstDash val="solid"/>
          </a:ln>
        </p:spPr>
      </p:sp>
      <p:sp>
        <p:nvSpPr>
          <p:cNvPr id="16" name="Text 13"/>
          <p:cNvSpPr/>
          <p:nvPr/>
        </p:nvSpPr>
        <p:spPr>
          <a:xfrm>
            <a:off x="475488" y="2505456"/>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24128" y="2304288"/>
            <a:ext cx="3401568" cy="950976"/>
          </a:xfrm>
          <a:prstGeom prst="rect">
            <a:avLst/>
          </a:prstGeom>
          <a:noFill/>
          <a:ln/>
        </p:spPr>
        <p:txBody>
          <a:bodyPr wrap="square" rtlCol="0" anchor="ctr"/>
          <a:lstStyle/>
          <a:p>
            <a:pPr indent="0" marL="0">
              <a:buNone/>
            </a:pPr>
            <a:r>
              <a:rPr lang="en-US" sz="1250" dirty="0">
                <a:solidFill>
                  <a:srgbClr val="2D4A6B"/>
                </a:solidFill>
                <a:latin typeface="Calibri" pitchFamily="34" charset="0"/>
                <a:ea typeface="Calibri" pitchFamily="34" charset="-122"/>
                <a:cs typeface="Calibri" pitchFamily="34" charset="-120"/>
              </a:rPr>
              <a:t>The system generates seating arrangements quickly and efficiently.</a:t>
            </a:r>
            <a:endParaRPr lang="en-US" sz="1250" dirty="0"/>
          </a:p>
        </p:txBody>
      </p:sp>
      <p:sp>
        <p:nvSpPr>
          <p:cNvPr id="18" name="Shape 15"/>
          <p:cNvSpPr/>
          <p:nvPr/>
        </p:nvSpPr>
        <p:spPr>
          <a:xfrm>
            <a:off x="4754880" y="2194560"/>
            <a:ext cx="4206240" cy="1170432"/>
          </a:xfrm>
          <a:prstGeom prst="roundRect">
            <a:avLst>
              <a:gd name="adj" fmla="val 6250"/>
            </a:avLst>
          </a:prstGeom>
          <a:solidFill>
            <a:srgbClr val="FFFFFF"/>
          </a:solidFill>
          <a:ln w="12700">
            <a:solidFill>
              <a:srgbClr val="E8EFF4"/>
            </a:solidFill>
            <a:prstDash val="solid"/>
          </a:ln>
          <a:effectLst>
            <a:outerShdw sx="100000" sy="100000" kx="0" ky="0" algn="bl" rotWithShape="0" blurRad="76200" dist="25400" dir="2700000">
              <a:srgbClr val="000000">
                <a:alpha val="7000"/>
              </a:srgbClr>
            </a:outerShdw>
          </a:effectLst>
        </p:spPr>
      </p:sp>
      <p:sp>
        <p:nvSpPr>
          <p:cNvPr id="19" name="Shape 16"/>
          <p:cNvSpPr/>
          <p:nvPr/>
        </p:nvSpPr>
        <p:spPr>
          <a:xfrm>
            <a:off x="4864608" y="2505456"/>
            <a:ext cx="438912" cy="438912"/>
          </a:xfrm>
          <a:prstGeom prst="ellipse">
            <a:avLst/>
          </a:prstGeom>
          <a:solidFill>
            <a:srgbClr val="028090"/>
          </a:solidFill>
          <a:ln w="12700">
            <a:solidFill>
              <a:srgbClr val="028090"/>
            </a:solidFill>
            <a:prstDash val="solid"/>
          </a:ln>
        </p:spPr>
      </p:sp>
      <p:sp>
        <p:nvSpPr>
          <p:cNvPr id="20" name="Text 17"/>
          <p:cNvSpPr/>
          <p:nvPr/>
        </p:nvSpPr>
        <p:spPr>
          <a:xfrm>
            <a:off x="4864608" y="2505456"/>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5413248" y="2304288"/>
            <a:ext cx="3401568" cy="950976"/>
          </a:xfrm>
          <a:prstGeom prst="rect">
            <a:avLst/>
          </a:prstGeom>
          <a:noFill/>
          <a:ln/>
        </p:spPr>
        <p:txBody>
          <a:bodyPr wrap="square" rtlCol="0" anchor="ctr"/>
          <a:lstStyle/>
          <a:p>
            <a:pPr indent="0" marL="0">
              <a:buNone/>
            </a:pPr>
            <a:r>
              <a:rPr lang="en-US" sz="1250" dirty="0">
                <a:solidFill>
                  <a:srgbClr val="2D4A6B"/>
                </a:solidFill>
                <a:latin typeface="Calibri" pitchFamily="34" charset="0"/>
                <a:ea typeface="Calibri" pitchFamily="34" charset="-122"/>
                <a:cs typeface="Calibri" pitchFamily="34" charset="-120"/>
              </a:rPr>
              <a:t>It reduces manual work, confusion, and human errors during exams.</a:t>
            </a:r>
            <a:endParaRPr lang="en-US" sz="1250" dirty="0"/>
          </a:p>
        </p:txBody>
      </p:sp>
      <p:sp>
        <p:nvSpPr>
          <p:cNvPr id="22" name="Shape 19"/>
          <p:cNvSpPr/>
          <p:nvPr/>
        </p:nvSpPr>
        <p:spPr>
          <a:xfrm>
            <a:off x="365760" y="3520440"/>
            <a:ext cx="4206240" cy="1170432"/>
          </a:xfrm>
          <a:prstGeom prst="roundRect">
            <a:avLst>
              <a:gd name="adj" fmla="val 6250"/>
            </a:avLst>
          </a:prstGeom>
          <a:solidFill>
            <a:srgbClr val="FFFFFF"/>
          </a:solidFill>
          <a:ln w="12700">
            <a:solidFill>
              <a:srgbClr val="E8EFF4"/>
            </a:solidFill>
            <a:prstDash val="solid"/>
          </a:ln>
          <a:effectLst>
            <a:outerShdw sx="100000" sy="100000" kx="0" ky="0" algn="bl" rotWithShape="0" blurRad="76200" dist="25400" dir="2700000">
              <a:srgbClr val="000000">
                <a:alpha val="7000"/>
              </a:srgbClr>
            </a:outerShdw>
          </a:effectLst>
        </p:spPr>
      </p:sp>
      <p:sp>
        <p:nvSpPr>
          <p:cNvPr id="23" name="Shape 20"/>
          <p:cNvSpPr/>
          <p:nvPr/>
        </p:nvSpPr>
        <p:spPr>
          <a:xfrm>
            <a:off x="475488" y="3831336"/>
            <a:ext cx="438912" cy="438912"/>
          </a:xfrm>
          <a:prstGeom prst="ellipse">
            <a:avLst/>
          </a:prstGeom>
          <a:solidFill>
            <a:srgbClr val="028090"/>
          </a:solidFill>
          <a:ln w="12700">
            <a:solidFill>
              <a:srgbClr val="028090"/>
            </a:solidFill>
            <a:prstDash val="solid"/>
          </a:ln>
        </p:spPr>
      </p:sp>
      <p:sp>
        <p:nvSpPr>
          <p:cNvPr id="24" name="Text 21"/>
          <p:cNvSpPr/>
          <p:nvPr/>
        </p:nvSpPr>
        <p:spPr>
          <a:xfrm>
            <a:off x="475488" y="3831336"/>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2"/>
          <p:cNvSpPr/>
          <p:nvPr/>
        </p:nvSpPr>
        <p:spPr>
          <a:xfrm>
            <a:off x="1024128" y="3630168"/>
            <a:ext cx="3401568" cy="950976"/>
          </a:xfrm>
          <a:prstGeom prst="rect">
            <a:avLst/>
          </a:prstGeom>
          <a:noFill/>
          <a:ln/>
        </p:spPr>
        <p:txBody>
          <a:bodyPr wrap="square" rtlCol="0" anchor="ctr"/>
          <a:lstStyle/>
          <a:p>
            <a:pPr indent="0" marL="0">
              <a:buNone/>
            </a:pPr>
            <a:r>
              <a:rPr lang="en-US" sz="1250" dirty="0">
                <a:solidFill>
                  <a:srgbClr val="2D4A6B"/>
                </a:solidFill>
                <a:latin typeface="Calibri" pitchFamily="34" charset="0"/>
                <a:ea typeface="Calibri" pitchFamily="34" charset="-122"/>
                <a:cs typeface="Calibri" pitchFamily="34" charset="-120"/>
              </a:rPr>
              <a:t>The project saves time and improves examination hall management.</a:t>
            </a:r>
            <a:endParaRPr lang="en-US" sz="1250" dirty="0"/>
          </a:p>
        </p:txBody>
      </p:sp>
      <p:sp>
        <p:nvSpPr>
          <p:cNvPr id="26" name="Shape 23"/>
          <p:cNvSpPr/>
          <p:nvPr/>
        </p:nvSpPr>
        <p:spPr>
          <a:xfrm>
            <a:off x="4754880" y="3520440"/>
            <a:ext cx="4206240" cy="1170432"/>
          </a:xfrm>
          <a:prstGeom prst="roundRect">
            <a:avLst>
              <a:gd name="adj" fmla="val 6250"/>
            </a:avLst>
          </a:prstGeom>
          <a:solidFill>
            <a:srgbClr val="FFFFFF"/>
          </a:solidFill>
          <a:ln w="12700">
            <a:solidFill>
              <a:srgbClr val="E8EFF4"/>
            </a:solidFill>
            <a:prstDash val="solid"/>
          </a:ln>
          <a:effectLst>
            <a:outerShdw sx="100000" sy="100000" kx="0" ky="0" algn="bl" rotWithShape="0" blurRad="76200" dist="25400" dir="2700000">
              <a:srgbClr val="000000">
                <a:alpha val="7000"/>
              </a:srgbClr>
            </a:outerShdw>
          </a:effectLst>
        </p:spPr>
      </p:sp>
      <p:sp>
        <p:nvSpPr>
          <p:cNvPr id="27" name="Shape 24"/>
          <p:cNvSpPr/>
          <p:nvPr/>
        </p:nvSpPr>
        <p:spPr>
          <a:xfrm>
            <a:off x="4864608" y="3831336"/>
            <a:ext cx="438912" cy="438912"/>
          </a:xfrm>
          <a:prstGeom prst="ellipse">
            <a:avLst/>
          </a:prstGeom>
          <a:solidFill>
            <a:srgbClr val="028090"/>
          </a:solidFill>
          <a:ln w="12700">
            <a:solidFill>
              <a:srgbClr val="028090"/>
            </a:solidFill>
            <a:prstDash val="solid"/>
          </a:ln>
        </p:spPr>
      </p:sp>
      <p:sp>
        <p:nvSpPr>
          <p:cNvPr id="28" name="Text 25"/>
          <p:cNvSpPr/>
          <p:nvPr/>
        </p:nvSpPr>
        <p:spPr>
          <a:xfrm>
            <a:off x="4864608" y="3831336"/>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9" name="Text 26"/>
          <p:cNvSpPr/>
          <p:nvPr/>
        </p:nvSpPr>
        <p:spPr>
          <a:xfrm>
            <a:off x="5413248" y="3630168"/>
            <a:ext cx="3401568" cy="950976"/>
          </a:xfrm>
          <a:prstGeom prst="rect">
            <a:avLst/>
          </a:prstGeom>
          <a:noFill/>
          <a:ln/>
        </p:spPr>
        <p:txBody>
          <a:bodyPr wrap="square" rtlCol="0" anchor="ctr"/>
          <a:lstStyle/>
          <a:p>
            <a:pPr indent="0" marL="0">
              <a:buNone/>
            </a:pPr>
            <a:r>
              <a:rPr lang="en-US" sz="1250" dirty="0">
                <a:solidFill>
                  <a:srgbClr val="2D4A6B"/>
                </a:solidFill>
                <a:latin typeface="Calibri" pitchFamily="34" charset="0"/>
                <a:ea typeface="Calibri" pitchFamily="34" charset="-122"/>
                <a:cs typeface="Calibri" pitchFamily="34" charset="-120"/>
              </a:rPr>
              <a:t>This system is useful for schools, colleges, and universities.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sp>
      <p:sp>
        <p:nvSpPr>
          <p:cNvPr id="3" name="Shape 1"/>
          <p:cNvSpPr/>
          <p:nvPr/>
        </p:nvSpPr>
        <p:spPr>
          <a:xfrm>
            <a:off x="0" y="0"/>
            <a:ext cx="164592" cy="685800"/>
          </a:xfrm>
          <a:prstGeom prst="rect">
            <a:avLst/>
          </a:prstGeom>
          <a:solidFill>
            <a:srgbClr val="02C39A"/>
          </a:solidFill>
          <a:ln w="12700">
            <a:solidFill>
              <a:srgbClr val="02C39A"/>
            </a:solidFill>
            <a:prstDash val="solid"/>
          </a:ln>
        </p:spPr>
      </p:sp>
      <p:sp>
        <p:nvSpPr>
          <p:cNvPr id="4" name="Text 2"/>
          <p:cNvSpPr/>
          <p:nvPr/>
        </p:nvSpPr>
        <p:spPr>
          <a:xfrm>
            <a:off x="320040" y="0"/>
            <a:ext cx="77724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PEAS Framework for AI Evacuation Planning</a:t>
            </a:r>
            <a:endParaRPr lang="en-US" sz="2200" dirty="0"/>
          </a:p>
        </p:txBody>
      </p:sp>
      <p:pic>
        <p:nvPicPr>
          <p:cNvPr id="5" name="Image 0" descr="/home/claude/pptx_media/ppt/media/image3.png">    </p:cNvPr>
          <p:cNvPicPr>
            <a:picLocks noChangeAspect="1"/>
          </p:cNvPicPr>
          <p:nvPr/>
        </p:nvPicPr>
        <p:blipFill>
          <a:blip r:embed="rId1"/>
          <a:stretch>
            <a:fillRect/>
          </a:stretch>
        </p:blipFill>
        <p:spPr>
          <a:xfrm>
            <a:off x="7589520" y="45720"/>
            <a:ext cx="1371600" cy="594360"/>
          </a:xfrm>
          <a:prstGeom prst="rect">
            <a:avLst/>
          </a:prstGeom>
        </p:spPr>
      </p:pic>
      <p:pic>
        <p:nvPicPr>
          <p:cNvPr id="6" name="Image 1" descr="/home/claude/pptx_media/ppt/media/image4.png">    </p:cNvPr>
          <p:cNvPicPr>
            <a:picLocks noChangeAspect="1"/>
          </p:cNvPicPr>
          <p:nvPr/>
        </p:nvPicPr>
        <p:blipFill>
          <a:blip r:embed="rId2"/>
          <a:stretch>
            <a:fillRect/>
          </a:stretch>
        </p:blipFill>
        <p:spPr>
          <a:xfrm>
            <a:off x="274320" y="777240"/>
            <a:ext cx="8595360" cy="4206240"/>
          </a:xfrm>
          <a:prstGeom prst="rect">
            <a:avLst/>
          </a:prstGeom>
          <a:effectLst>
            <a:outerShdw sx="100000" sy="100000" kx="0" ky="0" algn="bl" rotWithShape="0" blurRad="101600" dist="25400" dir="2700000">
              <a:srgbClr val="000000">
                <a:alpha val="1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sp>
      <p:sp>
        <p:nvSpPr>
          <p:cNvPr id="3" name="Shape 1"/>
          <p:cNvSpPr/>
          <p:nvPr/>
        </p:nvSpPr>
        <p:spPr>
          <a:xfrm>
            <a:off x="0" y="0"/>
            <a:ext cx="164592" cy="685800"/>
          </a:xfrm>
          <a:prstGeom prst="rect">
            <a:avLst/>
          </a:prstGeom>
          <a:solidFill>
            <a:srgbClr val="02C39A"/>
          </a:solidFill>
          <a:ln w="12700">
            <a:solidFill>
              <a:srgbClr val="02C39A"/>
            </a:solidFill>
            <a:prstDash val="solid"/>
          </a:ln>
        </p:spPr>
      </p:sp>
      <p:sp>
        <p:nvSpPr>
          <p:cNvPr id="4" name="Text 2"/>
          <p:cNvSpPr/>
          <p:nvPr/>
        </p:nvSpPr>
        <p:spPr>
          <a:xfrm>
            <a:off x="320040" y="0"/>
            <a:ext cx="77724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Types of Environments in AI System</a:t>
            </a:r>
            <a:endParaRPr lang="en-US" sz="2200" dirty="0"/>
          </a:p>
        </p:txBody>
      </p:sp>
      <p:pic>
        <p:nvPicPr>
          <p:cNvPr id="5" name="Image 0" descr="/home/claude/pptx_media/ppt/media/image3.png">    </p:cNvPr>
          <p:cNvPicPr>
            <a:picLocks noChangeAspect="1"/>
          </p:cNvPicPr>
          <p:nvPr/>
        </p:nvPicPr>
        <p:blipFill>
          <a:blip r:embed="rId1"/>
          <a:stretch>
            <a:fillRect/>
          </a:stretch>
        </p:blipFill>
        <p:spPr>
          <a:xfrm>
            <a:off x="7589520" y="45720"/>
            <a:ext cx="1371600" cy="594360"/>
          </a:xfrm>
          <a:prstGeom prst="rect">
            <a:avLst/>
          </a:prstGeom>
        </p:spPr>
      </p:pic>
      <p:pic>
        <p:nvPicPr>
          <p:cNvPr id="6" name="Image 1" descr="/home/claude/pptx_media/ppt/media/image5.png">    </p:cNvPr>
          <p:cNvPicPr>
            <a:picLocks noChangeAspect="1"/>
          </p:cNvPicPr>
          <p:nvPr/>
        </p:nvPicPr>
        <p:blipFill>
          <a:blip r:embed="rId2"/>
          <a:stretch>
            <a:fillRect/>
          </a:stretch>
        </p:blipFill>
        <p:spPr>
          <a:xfrm>
            <a:off x="274320" y="777240"/>
            <a:ext cx="8595360" cy="4206240"/>
          </a:xfrm>
          <a:prstGeom prst="rect">
            <a:avLst/>
          </a:prstGeom>
          <a:effectLst>
            <a:outerShdw sx="100000" sy="100000" kx="0" ky="0" algn="bl" rotWithShape="0" blurRad="101600" dist="25400" dir="2700000">
              <a:srgbClr val="000000">
                <a:alpha val="1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sp>
      <p:sp>
        <p:nvSpPr>
          <p:cNvPr id="3" name="Shape 1"/>
          <p:cNvSpPr/>
          <p:nvPr/>
        </p:nvSpPr>
        <p:spPr>
          <a:xfrm>
            <a:off x="0" y="0"/>
            <a:ext cx="164592" cy="685800"/>
          </a:xfrm>
          <a:prstGeom prst="rect">
            <a:avLst/>
          </a:prstGeom>
          <a:solidFill>
            <a:srgbClr val="02C39A"/>
          </a:solidFill>
          <a:ln w="12700">
            <a:solidFill>
              <a:srgbClr val="02C39A"/>
            </a:solidFill>
            <a:prstDash val="solid"/>
          </a:ln>
        </p:spPr>
      </p:sp>
      <p:sp>
        <p:nvSpPr>
          <p:cNvPr id="4" name="Text 2"/>
          <p:cNvSpPr/>
          <p:nvPr/>
        </p:nvSpPr>
        <p:spPr>
          <a:xfrm>
            <a:off x="320040" y="0"/>
            <a:ext cx="77724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Features</a:t>
            </a:r>
            <a:endParaRPr lang="en-US" sz="2200" dirty="0"/>
          </a:p>
        </p:txBody>
      </p:sp>
      <p:pic>
        <p:nvPicPr>
          <p:cNvPr id="5" name="Image 0" descr="/home/claude/pptx_media/ppt/media/image3.png">    </p:cNvPr>
          <p:cNvPicPr>
            <a:picLocks noChangeAspect="1"/>
          </p:cNvPicPr>
          <p:nvPr/>
        </p:nvPicPr>
        <p:blipFill>
          <a:blip r:embed="rId1"/>
          <a:stretch>
            <a:fillRect/>
          </a:stretch>
        </p:blipFill>
        <p:spPr>
          <a:xfrm>
            <a:off x="7589520" y="45720"/>
            <a:ext cx="1371600" cy="594360"/>
          </a:xfrm>
          <a:prstGeom prst="rect">
            <a:avLst/>
          </a:prstGeom>
        </p:spPr>
      </p:pic>
      <p:sp>
        <p:nvSpPr>
          <p:cNvPr id="6" name="Shape 3"/>
          <p:cNvSpPr/>
          <p:nvPr/>
        </p:nvSpPr>
        <p:spPr>
          <a:xfrm>
            <a:off x="274320" y="822960"/>
            <a:ext cx="1920240" cy="1691640"/>
          </a:xfrm>
          <a:prstGeom prst="roundRect">
            <a:avLst>
              <a:gd name="adj" fmla="val 5405"/>
            </a:avLst>
          </a:prstGeom>
          <a:solidFill>
            <a:srgbClr val="FFFFFF"/>
          </a:solidFill>
          <a:ln w="12700">
            <a:solidFill>
              <a:srgbClr val="E8EFF4"/>
            </a:solidFill>
            <a:prstDash val="solid"/>
          </a:ln>
          <a:effectLst>
            <a:outerShdw sx="100000" sy="100000" kx="0" ky="0" algn="bl" rotWithShape="0" blurRad="101600" dist="25400" dir="2700000">
              <a:srgbClr val="000000">
                <a:alpha val="8000"/>
              </a:srgbClr>
            </a:outerShdw>
          </a:effectLst>
        </p:spPr>
      </p:sp>
      <p:sp>
        <p:nvSpPr>
          <p:cNvPr id="7" name="Shape 4"/>
          <p:cNvSpPr/>
          <p:nvPr/>
        </p:nvSpPr>
        <p:spPr>
          <a:xfrm>
            <a:off x="274320" y="822960"/>
            <a:ext cx="1920240" cy="292608"/>
          </a:xfrm>
          <a:prstGeom prst="roundRect">
            <a:avLst>
              <a:gd name="adj" fmla="val 31250"/>
            </a:avLst>
          </a:prstGeom>
          <a:solidFill>
            <a:srgbClr val="028090"/>
          </a:solidFill>
          <a:ln w="12700">
            <a:solidFill>
              <a:srgbClr val="028090"/>
            </a:solidFill>
            <a:prstDash val="solid"/>
          </a:ln>
        </p:spPr>
      </p:sp>
      <p:sp>
        <p:nvSpPr>
          <p:cNvPr id="8" name="Shape 5"/>
          <p:cNvSpPr/>
          <p:nvPr/>
        </p:nvSpPr>
        <p:spPr>
          <a:xfrm>
            <a:off x="941832" y="987552"/>
            <a:ext cx="585216" cy="585216"/>
          </a:xfrm>
          <a:prstGeom prst="ellipse">
            <a:avLst/>
          </a:prstGeom>
          <a:solidFill>
            <a:srgbClr val="0A2342"/>
          </a:solidFill>
          <a:ln w="12700">
            <a:solidFill>
              <a:srgbClr val="0A2342"/>
            </a:solidFill>
            <a:prstDash val="solid"/>
          </a:ln>
        </p:spPr>
      </p:sp>
      <p:sp>
        <p:nvSpPr>
          <p:cNvPr id="9" name="Text 6"/>
          <p:cNvSpPr/>
          <p:nvPr/>
        </p:nvSpPr>
        <p:spPr>
          <a:xfrm>
            <a:off x="941832" y="987552"/>
            <a:ext cx="585216" cy="585216"/>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10" name="Text 7"/>
          <p:cNvSpPr/>
          <p:nvPr/>
        </p:nvSpPr>
        <p:spPr>
          <a:xfrm>
            <a:off x="347472" y="1645920"/>
            <a:ext cx="1773936" cy="777240"/>
          </a:xfrm>
          <a:prstGeom prst="rect">
            <a:avLst/>
          </a:prstGeom>
          <a:noFill/>
          <a:ln/>
        </p:spPr>
        <p:txBody>
          <a:bodyPr wrap="square" rtlCol="0" anchor="ctr"/>
          <a:lstStyle/>
          <a:p>
            <a:pPr algn="ctr" indent="0" marL="0">
              <a:buNone/>
            </a:pPr>
            <a:r>
              <a:rPr lang="en-US" sz="1200" b="1" dirty="0">
                <a:solidFill>
                  <a:srgbClr val="0A2342"/>
                </a:solidFill>
                <a:latin typeface="Calibri" pitchFamily="34" charset="0"/>
                <a:ea typeface="Calibri" pitchFamily="34" charset="-122"/>
                <a:cs typeface="Calibri" pitchFamily="34" charset="-120"/>
              </a:rPr>
              <a:t>Automatic Seat Allocation</a:t>
            </a:r>
            <a:endParaRPr lang="en-US" sz="1200" dirty="0"/>
          </a:p>
        </p:txBody>
      </p:sp>
      <p:sp>
        <p:nvSpPr>
          <p:cNvPr id="11" name="Shape 8"/>
          <p:cNvSpPr/>
          <p:nvPr/>
        </p:nvSpPr>
        <p:spPr>
          <a:xfrm>
            <a:off x="2450592" y="822960"/>
            <a:ext cx="1920240" cy="1691640"/>
          </a:xfrm>
          <a:prstGeom prst="roundRect">
            <a:avLst>
              <a:gd name="adj" fmla="val 5405"/>
            </a:avLst>
          </a:prstGeom>
          <a:solidFill>
            <a:srgbClr val="FFFFFF"/>
          </a:solidFill>
          <a:ln w="12700">
            <a:solidFill>
              <a:srgbClr val="E8EFF4"/>
            </a:solidFill>
            <a:prstDash val="solid"/>
          </a:ln>
          <a:effectLst>
            <a:outerShdw sx="100000" sy="100000" kx="0" ky="0" algn="bl" rotWithShape="0" blurRad="101600" dist="25400" dir="2700000">
              <a:srgbClr val="000000">
                <a:alpha val="8000"/>
              </a:srgbClr>
            </a:outerShdw>
          </a:effectLst>
        </p:spPr>
      </p:sp>
      <p:sp>
        <p:nvSpPr>
          <p:cNvPr id="12" name="Shape 9"/>
          <p:cNvSpPr/>
          <p:nvPr/>
        </p:nvSpPr>
        <p:spPr>
          <a:xfrm>
            <a:off x="2450592" y="822960"/>
            <a:ext cx="1920240" cy="292608"/>
          </a:xfrm>
          <a:prstGeom prst="roundRect">
            <a:avLst>
              <a:gd name="adj" fmla="val 31250"/>
            </a:avLst>
          </a:prstGeom>
          <a:solidFill>
            <a:srgbClr val="028090"/>
          </a:solidFill>
          <a:ln w="12700">
            <a:solidFill>
              <a:srgbClr val="028090"/>
            </a:solidFill>
            <a:prstDash val="solid"/>
          </a:ln>
        </p:spPr>
      </p:sp>
      <p:sp>
        <p:nvSpPr>
          <p:cNvPr id="13" name="Shape 10"/>
          <p:cNvSpPr/>
          <p:nvPr/>
        </p:nvSpPr>
        <p:spPr>
          <a:xfrm>
            <a:off x="3118104" y="987552"/>
            <a:ext cx="585216" cy="585216"/>
          </a:xfrm>
          <a:prstGeom prst="ellipse">
            <a:avLst/>
          </a:prstGeom>
          <a:solidFill>
            <a:srgbClr val="0A2342"/>
          </a:solidFill>
          <a:ln w="12700">
            <a:solidFill>
              <a:srgbClr val="0A2342"/>
            </a:solidFill>
            <a:prstDash val="solid"/>
          </a:ln>
        </p:spPr>
      </p:sp>
      <p:sp>
        <p:nvSpPr>
          <p:cNvPr id="14" name="Text 11"/>
          <p:cNvSpPr/>
          <p:nvPr/>
        </p:nvSpPr>
        <p:spPr>
          <a:xfrm>
            <a:off x="3118104" y="987552"/>
            <a:ext cx="585216" cy="585216"/>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15" name="Text 12"/>
          <p:cNvSpPr/>
          <p:nvPr/>
        </p:nvSpPr>
        <p:spPr>
          <a:xfrm>
            <a:off x="2523744" y="1645920"/>
            <a:ext cx="1773936" cy="777240"/>
          </a:xfrm>
          <a:prstGeom prst="rect">
            <a:avLst/>
          </a:prstGeom>
          <a:noFill/>
          <a:ln/>
        </p:spPr>
        <p:txBody>
          <a:bodyPr wrap="square" rtlCol="0" anchor="ctr"/>
          <a:lstStyle/>
          <a:p>
            <a:pPr algn="ctr" indent="0" marL="0">
              <a:buNone/>
            </a:pPr>
            <a:r>
              <a:rPr lang="en-US" sz="1200" b="1" dirty="0">
                <a:solidFill>
                  <a:srgbClr val="0A2342"/>
                </a:solidFill>
                <a:latin typeface="Calibri" pitchFamily="34" charset="0"/>
                <a:ea typeface="Calibri" pitchFamily="34" charset="-122"/>
                <a:cs typeface="Calibri" pitchFamily="34" charset="-120"/>
              </a:rPr>
              <a:t>Student &amp; Room Management</a:t>
            </a:r>
            <a:endParaRPr lang="en-US" sz="1200" dirty="0"/>
          </a:p>
        </p:txBody>
      </p:sp>
      <p:sp>
        <p:nvSpPr>
          <p:cNvPr id="16" name="Shape 13"/>
          <p:cNvSpPr/>
          <p:nvPr/>
        </p:nvSpPr>
        <p:spPr>
          <a:xfrm>
            <a:off x="4626864" y="822960"/>
            <a:ext cx="1920240" cy="1691640"/>
          </a:xfrm>
          <a:prstGeom prst="roundRect">
            <a:avLst>
              <a:gd name="adj" fmla="val 5405"/>
            </a:avLst>
          </a:prstGeom>
          <a:solidFill>
            <a:srgbClr val="FFFFFF"/>
          </a:solidFill>
          <a:ln w="12700">
            <a:solidFill>
              <a:srgbClr val="E8EFF4"/>
            </a:solidFill>
            <a:prstDash val="solid"/>
          </a:ln>
          <a:effectLst>
            <a:outerShdw sx="100000" sy="100000" kx="0" ky="0" algn="bl" rotWithShape="0" blurRad="101600" dist="25400" dir="2700000">
              <a:srgbClr val="000000">
                <a:alpha val="8000"/>
              </a:srgbClr>
            </a:outerShdw>
          </a:effectLst>
        </p:spPr>
      </p:sp>
      <p:sp>
        <p:nvSpPr>
          <p:cNvPr id="17" name="Shape 14"/>
          <p:cNvSpPr/>
          <p:nvPr/>
        </p:nvSpPr>
        <p:spPr>
          <a:xfrm>
            <a:off x="4626864" y="822960"/>
            <a:ext cx="1920240" cy="292608"/>
          </a:xfrm>
          <a:prstGeom prst="roundRect">
            <a:avLst>
              <a:gd name="adj" fmla="val 31250"/>
            </a:avLst>
          </a:prstGeom>
          <a:solidFill>
            <a:srgbClr val="028090"/>
          </a:solidFill>
          <a:ln w="12700">
            <a:solidFill>
              <a:srgbClr val="028090"/>
            </a:solidFill>
            <a:prstDash val="solid"/>
          </a:ln>
        </p:spPr>
      </p:sp>
      <p:sp>
        <p:nvSpPr>
          <p:cNvPr id="18" name="Shape 15"/>
          <p:cNvSpPr/>
          <p:nvPr/>
        </p:nvSpPr>
        <p:spPr>
          <a:xfrm>
            <a:off x="5294376" y="987552"/>
            <a:ext cx="585216" cy="585216"/>
          </a:xfrm>
          <a:prstGeom prst="ellipse">
            <a:avLst/>
          </a:prstGeom>
          <a:solidFill>
            <a:srgbClr val="0A2342"/>
          </a:solidFill>
          <a:ln w="12700">
            <a:solidFill>
              <a:srgbClr val="0A2342"/>
            </a:solidFill>
            <a:prstDash val="solid"/>
          </a:ln>
        </p:spPr>
      </p:sp>
      <p:sp>
        <p:nvSpPr>
          <p:cNvPr id="19" name="Text 16"/>
          <p:cNvSpPr/>
          <p:nvPr/>
        </p:nvSpPr>
        <p:spPr>
          <a:xfrm>
            <a:off x="5294376" y="987552"/>
            <a:ext cx="585216" cy="585216"/>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20" name="Text 17"/>
          <p:cNvSpPr/>
          <p:nvPr/>
        </p:nvSpPr>
        <p:spPr>
          <a:xfrm>
            <a:off x="4700016" y="1645920"/>
            <a:ext cx="1773936" cy="777240"/>
          </a:xfrm>
          <a:prstGeom prst="rect">
            <a:avLst/>
          </a:prstGeom>
          <a:noFill/>
          <a:ln/>
        </p:spPr>
        <p:txBody>
          <a:bodyPr wrap="square" rtlCol="0" anchor="ctr"/>
          <a:lstStyle/>
          <a:p>
            <a:pPr algn="ctr" indent="0" marL="0">
              <a:buNone/>
            </a:pPr>
            <a:r>
              <a:rPr lang="en-US" sz="1200" b="1" dirty="0">
                <a:solidFill>
                  <a:srgbClr val="0A2342"/>
                </a:solidFill>
                <a:latin typeface="Calibri" pitchFamily="34" charset="0"/>
                <a:ea typeface="Calibri" pitchFamily="34" charset="-122"/>
                <a:cs typeface="Calibri" pitchFamily="34" charset="-120"/>
              </a:rPr>
              <a:t>Fast Seating Arrangement Generation</a:t>
            </a:r>
            <a:endParaRPr lang="en-US" sz="1200" dirty="0"/>
          </a:p>
        </p:txBody>
      </p:sp>
      <p:sp>
        <p:nvSpPr>
          <p:cNvPr id="21" name="Shape 18"/>
          <p:cNvSpPr/>
          <p:nvPr/>
        </p:nvSpPr>
        <p:spPr>
          <a:xfrm>
            <a:off x="6803136" y="822960"/>
            <a:ext cx="1920240" cy="1691640"/>
          </a:xfrm>
          <a:prstGeom prst="roundRect">
            <a:avLst>
              <a:gd name="adj" fmla="val 5405"/>
            </a:avLst>
          </a:prstGeom>
          <a:solidFill>
            <a:srgbClr val="FFFFFF"/>
          </a:solidFill>
          <a:ln w="12700">
            <a:solidFill>
              <a:srgbClr val="E8EFF4"/>
            </a:solidFill>
            <a:prstDash val="solid"/>
          </a:ln>
          <a:effectLst>
            <a:outerShdw sx="100000" sy="100000" kx="0" ky="0" algn="bl" rotWithShape="0" blurRad="101600" dist="25400" dir="2700000">
              <a:srgbClr val="000000">
                <a:alpha val="8000"/>
              </a:srgbClr>
            </a:outerShdw>
          </a:effectLst>
        </p:spPr>
      </p:sp>
      <p:sp>
        <p:nvSpPr>
          <p:cNvPr id="22" name="Shape 19"/>
          <p:cNvSpPr/>
          <p:nvPr/>
        </p:nvSpPr>
        <p:spPr>
          <a:xfrm>
            <a:off x="6803136" y="822960"/>
            <a:ext cx="1920240" cy="292608"/>
          </a:xfrm>
          <a:prstGeom prst="roundRect">
            <a:avLst>
              <a:gd name="adj" fmla="val 31250"/>
            </a:avLst>
          </a:prstGeom>
          <a:solidFill>
            <a:srgbClr val="028090"/>
          </a:solidFill>
          <a:ln w="12700">
            <a:solidFill>
              <a:srgbClr val="028090"/>
            </a:solidFill>
            <a:prstDash val="solid"/>
          </a:ln>
        </p:spPr>
      </p:sp>
      <p:sp>
        <p:nvSpPr>
          <p:cNvPr id="23" name="Shape 20"/>
          <p:cNvSpPr/>
          <p:nvPr/>
        </p:nvSpPr>
        <p:spPr>
          <a:xfrm>
            <a:off x="7470648" y="987552"/>
            <a:ext cx="585216" cy="585216"/>
          </a:xfrm>
          <a:prstGeom prst="ellipse">
            <a:avLst/>
          </a:prstGeom>
          <a:solidFill>
            <a:srgbClr val="0A2342"/>
          </a:solidFill>
          <a:ln w="12700">
            <a:solidFill>
              <a:srgbClr val="0A2342"/>
            </a:solidFill>
            <a:prstDash val="solid"/>
          </a:ln>
        </p:spPr>
      </p:sp>
      <p:sp>
        <p:nvSpPr>
          <p:cNvPr id="24" name="Text 21"/>
          <p:cNvSpPr/>
          <p:nvPr/>
        </p:nvSpPr>
        <p:spPr>
          <a:xfrm>
            <a:off x="7470648" y="987552"/>
            <a:ext cx="585216" cy="585216"/>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25" name="Text 22"/>
          <p:cNvSpPr/>
          <p:nvPr/>
        </p:nvSpPr>
        <p:spPr>
          <a:xfrm>
            <a:off x="6876288" y="1645920"/>
            <a:ext cx="1773936" cy="777240"/>
          </a:xfrm>
          <a:prstGeom prst="rect">
            <a:avLst/>
          </a:prstGeom>
          <a:noFill/>
          <a:ln/>
        </p:spPr>
        <p:txBody>
          <a:bodyPr wrap="square" rtlCol="0" anchor="ctr"/>
          <a:lstStyle/>
          <a:p>
            <a:pPr algn="ctr" indent="0" marL="0">
              <a:buNone/>
            </a:pPr>
            <a:r>
              <a:rPr lang="en-US" sz="1200" b="1" dirty="0">
                <a:solidFill>
                  <a:srgbClr val="0A2342"/>
                </a:solidFill>
                <a:latin typeface="Calibri" pitchFamily="34" charset="0"/>
                <a:ea typeface="Calibri" pitchFamily="34" charset="-122"/>
                <a:cs typeface="Calibri" pitchFamily="34" charset="-120"/>
              </a:rPr>
              <a:t>Reduces Manual Errors</a:t>
            </a:r>
            <a:endParaRPr lang="en-US" sz="1200" dirty="0"/>
          </a:p>
        </p:txBody>
      </p:sp>
      <p:sp>
        <p:nvSpPr>
          <p:cNvPr id="26" name="Shape 23"/>
          <p:cNvSpPr/>
          <p:nvPr/>
        </p:nvSpPr>
        <p:spPr>
          <a:xfrm>
            <a:off x="274320" y="2697480"/>
            <a:ext cx="1920240" cy="1691640"/>
          </a:xfrm>
          <a:prstGeom prst="roundRect">
            <a:avLst>
              <a:gd name="adj" fmla="val 5405"/>
            </a:avLst>
          </a:prstGeom>
          <a:solidFill>
            <a:srgbClr val="FFFFFF"/>
          </a:solidFill>
          <a:ln w="12700">
            <a:solidFill>
              <a:srgbClr val="E8EFF4"/>
            </a:solidFill>
            <a:prstDash val="solid"/>
          </a:ln>
          <a:effectLst>
            <a:outerShdw sx="100000" sy="100000" kx="0" ky="0" algn="bl" rotWithShape="0" blurRad="101600" dist="25400" dir="2700000">
              <a:srgbClr val="000000">
                <a:alpha val="8000"/>
              </a:srgbClr>
            </a:outerShdw>
          </a:effectLst>
        </p:spPr>
      </p:sp>
      <p:sp>
        <p:nvSpPr>
          <p:cNvPr id="27" name="Shape 24"/>
          <p:cNvSpPr/>
          <p:nvPr/>
        </p:nvSpPr>
        <p:spPr>
          <a:xfrm>
            <a:off x="274320" y="2697480"/>
            <a:ext cx="1920240" cy="292608"/>
          </a:xfrm>
          <a:prstGeom prst="roundRect">
            <a:avLst>
              <a:gd name="adj" fmla="val 31250"/>
            </a:avLst>
          </a:prstGeom>
          <a:solidFill>
            <a:srgbClr val="028090"/>
          </a:solidFill>
          <a:ln w="12700">
            <a:solidFill>
              <a:srgbClr val="028090"/>
            </a:solidFill>
            <a:prstDash val="solid"/>
          </a:ln>
        </p:spPr>
      </p:sp>
      <p:sp>
        <p:nvSpPr>
          <p:cNvPr id="28" name="Shape 25"/>
          <p:cNvSpPr/>
          <p:nvPr/>
        </p:nvSpPr>
        <p:spPr>
          <a:xfrm>
            <a:off x="941832" y="2862072"/>
            <a:ext cx="585216" cy="585216"/>
          </a:xfrm>
          <a:prstGeom prst="ellipse">
            <a:avLst/>
          </a:prstGeom>
          <a:solidFill>
            <a:srgbClr val="0A2342"/>
          </a:solidFill>
          <a:ln w="12700">
            <a:solidFill>
              <a:srgbClr val="0A2342"/>
            </a:solidFill>
            <a:prstDash val="solid"/>
          </a:ln>
        </p:spPr>
      </p:sp>
      <p:sp>
        <p:nvSpPr>
          <p:cNvPr id="29" name="Text 26"/>
          <p:cNvSpPr/>
          <p:nvPr/>
        </p:nvSpPr>
        <p:spPr>
          <a:xfrm>
            <a:off x="941832" y="2862072"/>
            <a:ext cx="585216" cy="585216"/>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30" name="Text 27"/>
          <p:cNvSpPr/>
          <p:nvPr/>
        </p:nvSpPr>
        <p:spPr>
          <a:xfrm>
            <a:off x="347472" y="3520440"/>
            <a:ext cx="1773936" cy="777240"/>
          </a:xfrm>
          <a:prstGeom prst="rect">
            <a:avLst/>
          </a:prstGeom>
          <a:noFill/>
          <a:ln/>
        </p:spPr>
        <p:txBody>
          <a:bodyPr wrap="square" rtlCol="0" anchor="ctr"/>
          <a:lstStyle/>
          <a:p>
            <a:pPr algn="ctr" indent="0" marL="0">
              <a:buNone/>
            </a:pPr>
            <a:r>
              <a:rPr lang="en-US" sz="1200" b="1" dirty="0">
                <a:solidFill>
                  <a:srgbClr val="0A2342"/>
                </a:solidFill>
                <a:latin typeface="Calibri" pitchFamily="34" charset="0"/>
                <a:ea typeface="Calibri" pitchFamily="34" charset="-122"/>
                <a:cs typeface="Calibri" pitchFamily="34" charset="-120"/>
              </a:rPr>
              <a:t>Easy Seating Report Generation</a:t>
            </a:r>
            <a:endParaRPr lang="en-US" sz="1200" dirty="0"/>
          </a:p>
        </p:txBody>
      </p:sp>
      <p:sp>
        <p:nvSpPr>
          <p:cNvPr id="31" name="Shape 28"/>
          <p:cNvSpPr/>
          <p:nvPr/>
        </p:nvSpPr>
        <p:spPr>
          <a:xfrm>
            <a:off x="2450592" y="2697480"/>
            <a:ext cx="1920240" cy="1691640"/>
          </a:xfrm>
          <a:prstGeom prst="roundRect">
            <a:avLst>
              <a:gd name="adj" fmla="val 5405"/>
            </a:avLst>
          </a:prstGeom>
          <a:solidFill>
            <a:srgbClr val="FFFFFF"/>
          </a:solidFill>
          <a:ln w="12700">
            <a:solidFill>
              <a:srgbClr val="E8EFF4"/>
            </a:solidFill>
            <a:prstDash val="solid"/>
          </a:ln>
          <a:effectLst>
            <a:outerShdw sx="100000" sy="100000" kx="0" ky="0" algn="bl" rotWithShape="0" blurRad="101600" dist="25400" dir="2700000">
              <a:srgbClr val="000000">
                <a:alpha val="8000"/>
              </a:srgbClr>
            </a:outerShdw>
          </a:effectLst>
        </p:spPr>
      </p:sp>
      <p:sp>
        <p:nvSpPr>
          <p:cNvPr id="32" name="Shape 29"/>
          <p:cNvSpPr/>
          <p:nvPr/>
        </p:nvSpPr>
        <p:spPr>
          <a:xfrm>
            <a:off x="2450592" y="2697480"/>
            <a:ext cx="1920240" cy="292608"/>
          </a:xfrm>
          <a:prstGeom prst="roundRect">
            <a:avLst>
              <a:gd name="adj" fmla="val 31250"/>
            </a:avLst>
          </a:prstGeom>
          <a:solidFill>
            <a:srgbClr val="028090"/>
          </a:solidFill>
          <a:ln w="12700">
            <a:solidFill>
              <a:srgbClr val="028090"/>
            </a:solidFill>
            <a:prstDash val="solid"/>
          </a:ln>
        </p:spPr>
      </p:sp>
      <p:sp>
        <p:nvSpPr>
          <p:cNvPr id="33" name="Shape 30"/>
          <p:cNvSpPr/>
          <p:nvPr/>
        </p:nvSpPr>
        <p:spPr>
          <a:xfrm>
            <a:off x="3118104" y="2862072"/>
            <a:ext cx="585216" cy="585216"/>
          </a:xfrm>
          <a:prstGeom prst="ellipse">
            <a:avLst/>
          </a:prstGeom>
          <a:solidFill>
            <a:srgbClr val="0A2342"/>
          </a:solidFill>
          <a:ln w="12700">
            <a:solidFill>
              <a:srgbClr val="0A2342"/>
            </a:solidFill>
            <a:prstDash val="solid"/>
          </a:ln>
        </p:spPr>
      </p:sp>
      <p:sp>
        <p:nvSpPr>
          <p:cNvPr id="34" name="Text 31"/>
          <p:cNvSpPr/>
          <p:nvPr/>
        </p:nvSpPr>
        <p:spPr>
          <a:xfrm>
            <a:off x="3118104" y="2862072"/>
            <a:ext cx="585216" cy="585216"/>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35" name="Text 32"/>
          <p:cNvSpPr/>
          <p:nvPr/>
        </p:nvSpPr>
        <p:spPr>
          <a:xfrm>
            <a:off x="2523744" y="3520440"/>
            <a:ext cx="1773936" cy="777240"/>
          </a:xfrm>
          <a:prstGeom prst="rect">
            <a:avLst/>
          </a:prstGeom>
          <a:noFill/>
          <a:ln/>
        </p:spPr>
        <p:txBody>
          <a:bodyPr wrap="square" rtlCol="0" anchor="ctr"/>
          <a:lstStyle/>
          <a:p>
            <a:pPr algn="ctr" indent="0" marL="0">
              <a:buNone/>
            </a:pPr>
            <a:r>
              <a:rPr lang="en-US" sz="1200" b="1" dirty="0">
                <a:solidFill>
                  <a:srgbClr val="0A2342"/>
                </a:solidFill>
                <a:latin typeface="Calibri" pitchFamily="34" charset="0"/>
                <a:ea typeface="Calibri" pitchFamily="34" charset="-122"/>
                <a:cs typeface="Calibri" pitchFamily="34" charset="-120"/>
              </a:rPr>
              <a:t>Proper Exam Hall Management</a:t>
            </a:r>
            <a:endParaRPr lang="en-US" sz="1200" dirty="0"/>
          </a:p>
        </p:txBody>
      </p:sp>
      <p:sp>
        <p:nvSpPr>
          <p:cNvPr id="36" name="Shape 33"/>
          <p:cNvSpPr/>
          <p:nvPr/>
        </p:nvSpPr>
        <p:spPr>
          <a:xfrm>
            <a:off x="4626864" y="2697480"/>
            <a:ext cx="1920240" cy="1691640"/>
          </a:xfrm>
          <a:prstGeom prst="roundRect">
            <a:avLst>
              <a:gd name="adj" fmla="val 5405"/>
            </a:avLst>
          </a:prstGeom>
          <a:solidFill>
            <a:srgbClr val="FFFFFF"/>
          </a:solidFill>
          <a:ln w="12700">
            <a:solidFill>
              <a:srgbClr val="E8EFF4"/>
            </a:solidFill>
            <a:prstDash val="solid"/>
          </a:ln>
          <a:effectLst>
            <a:outerShdw sx="100000" sy="100000" kx="0" ky="0" algn="bl" rotWithShape="0" blurRad="101600" dist="25400" dir="2700000">
              <a:srgbClr val="000000">
                <a:alpha val="8000"/>
              </a:srgbClr>
            </a:outerShdw>
          </a:effectLst>
        </p:spPr>
      </p:sp>
      <p:sp>
        <p:nvSpPr>
          <p:cNvPr id="37" name="Shape 34"/>
          <p:cNvSpPr/>
          <p:nvPr/>
        </p:nvSpPr>
        <p:spPr>
          <a:xfrm>
            <a:off x="4626864" y="2697480"/>
            <a:ext cx="1920240" cy="292608"/>
          </a:xfrm>
          <a:prstGeom prst="roundRect">
            <a:avLst>
              <a:gd name="adj" fmla="val 31250"/>
            </a:avLst>
          </a:prstGeom>
          <a:solidFill>
            <a:srgbClr val="028090"/>
          </a:solidFill>
          <a:ln w="12700">
            <a:solidFill>
              <a:srgbClr val="028090"/>
            </a:solidFill>
            <a:prstDash val="solid"/>
          </a:ln>
        </p:spPr>
      </p:sp>
      <p:sp>
        <p:nvSpPr>
          <p:cNvPr id="38" name="Shape 35"/>
          <p:cNvSpPr/>
          <p:nvPr/>
        </p:nvSpPr>
        <p:spPr>
          <a:xfrm>
            <a:off x="5294376" y="2862072"/>
            <a:ext cx="585216" cy="585216"/>
          </a:xfrm>
          <a:prstGeom prst="ellipse">
            <a:avLst/>
          </a:prstGeom>
          <a:solidFill>
            <a:srgbClr val="0A2342"/>
          </a:solidFill>
          <a:ln w="12700">
            <a:solidFill>
              <a:srgbClr val="0A2342"/>
            </a:solidFill>
            <a:prstDash val="solid"/>
          </a:ln>
        </p:spPr>
      </p:sp>
      <p:sp>
        <p:nvSpPr>
          <p:cNvPr id="39" name="Text 36"/>
          <p:cNvSpPr/>
          <p:nvPr/>
        </p:nvSpPr>
        <p:spPr>
          <a:xfrm>
            <a:off x="5294376" y="2862072"/>
            <a:ext cx="585216" cy="585216"/>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40" name="Text 37"/>
          <p:cNvSpPr/>
          <p:nvPr/>
        </p:nvSpPr>
        <p:spPr>
          <a:xfrm>
            <a:off x="4700016" y="3520440"/>
            <a:ext cx="1773936" cy="777240"/>
          </a:xfrm>
          <a:prstGeom prst="rect">
            <a:avLst/>
          </a:prstGeom>
          <a:noFill/>
          <a:ln/>
        </p:spPr>
        <p:txBody>
          <a:bodyPr wrap="square" rtlCol="0" anchor="ctr"/>
          <a:lstStyle/>
          <a:p>
            <a:pPr algn="ctr" indent="0" marL="0">
              <a:buNone/>
            </a:pPr>
            <a:r>
              <a:rPr lang="en-US" sz="1200" b="1" dirty="0">
                <a:solidFill>
                  <a:srgbClr val="0A2342"/>
                </a:solidFill>
                <a:latin typeface="Calibri" pitchFamily="34" charset="0"/>
                <a:ea typeface="Calibri" pitchFamily="34" charset="-122"/>
                <a:cs typeface="Calibri" pitchFamily="34" charset="-120"/>
              </a:rPr>
              <a:t>Saves Time and Effort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342"/>
        </a:solidFill>
      </p:bgPr>
    </p:bg>
    <p:spTree>
      <p:nvGrpSpPr>
        <p:cNvPr id="1" name=""/>
        <p:cNvGrpSpPr/>
        <p:nvPr/>
      </p:nvGrpSpPr>
      <p:grpSpPr>
        <a:xfrm>
          <a:off x="0" y="0"/>
          <a:ext cx="0" cy="0"/>
          <a:chOff x="0" y="0"/>
          <a:chExt cx="0" cy="0"/>
        </a:xfrm>
      </p:grpSpPr>
      <p:pic>
        <p:nvPicPr>
          <p:cNvPr id="2" name="Image 0" descr="/home/claude/pptx_media/ppt/media/image3.png">    </p:cNvPr>
          <p:cNvPicPr>
            <a:picLocks noChangeAspect="1"/>
          </p:cNvPicPr>
          <p:nvPr/>
        </p:nvPicPr>
        <p:blipFill>
          <a:blip r:embed="rId1"/>
          <a:stretch>
            <a:fillRect/>
          </a:stretch>
        </p:blipFill>
        <p:spPr>
          <a:xfrm>
            <a:off x="7589520" y="45720"/>
            <a:ext cx="1371600" cy="594360"/>
          </a:xfrm>
          <a:prstGeom prst="rect">
            <a:avLst/>
          </a:prstGeom>
        </p:spPr>
      </p:pic>
      <p:sp>
        <p:nvSpPr>
          <p:cNvPr id="3" name="Shape 0"/>
          <p:cNvSpPr/>
          <p:nvPr/>
        </p:nvSpPr>
        <p:spPr>
          <a:xfrm>
            <a:off x="0" y="0"/>
            <a:ext cx="9144000" cy="685800"/>
          </a:xfrm>
          <a:prstGeom prst="rect">
            <a:avLst/>
          </a:prstGeom>
          <a:solidFill>
            <a:srgbClr val="0D2B50"/>
          </a:solidFill>
          <a:ln w="12700">
            <a:solidFill>
              <a:srgbClr val="0D2B50"/>
            </a:solidFill>
            <a:prstDash val="solid"/>
          </a:ln>
        </p:spPr>
      </p:sp>
      <p:sp>
        <p:nvSpPr>
          <p:cNvPr id="4" name="Shape 1"/>
          <p:cNvSpPr/>
          <p:nvPr/>
        </p:nvSpPr>
        <p:spPr>
          <a:xfrm>
            <a:off x="0" y="0"/>
            <a:ext cx="164592" cy="685800"/>
          </a:xfrm>
          <a:prstGeom prst="rect">
            <a:avLst/>
          </a:prstGeom>
          <a:solidFill>
            <a:srgbClr val="02C39A"/>
          </a:solidFill>
          <a:ln w="12700">
            <a:solidFill>
              <a:srgbClr val="02C39A"/>
            </a:solidFill>
            <a:prstDash val="solid"/>
          </a:ln>
        </p:spPr>
      </p:sp>
      <p:sp>
        <p:nvSpPr>
          <p:cNvPr id="5" name="Text 2"/>
          <p:cNvSpPr/>
          <p:nvPr/>
        </p:nvSpPr>
        <p:spPr>
          <a:xfrm>
            <a:off x="320040" y="0"/>
            <a:ext cx="68580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Applications</a:t>
            </a:r>
            <a:endParaRPr lang="en-US" sz="2200" dirty="0"/>
          </a:p>
        </p:txBody>
      </p:sp>
      <p:sp>
        <p:nvSpPr>
          <p:cNvPr id="6" name="Shape 3"/>
          <p:cNvSpPr/>
          <p:nvPr/>
        </p:nvSpPr>
        <p:spPr>
          <a:xfrm>
            <a:off x="274320" y="868680"/>
            <a:ext cx="2743200" cy="1691640"/>
          </a:xfrm>
          <a:prstGeom prst="roundRect">
            <a:avLst>
              <a:gd name="adj" fmla="val 5405"/>
            </a:avLst>
          </a:prstGeom>
          <a:solidFill>
            <a:srgbClr val="0D2B50"/>
          </a:solidFill>
          <a:ln w="19050">
            <a:solidFill>
              <a:srgbClr val="028090"/>
            </a:solidFill>
            <a:prstDash val="solid"/>
          </a:ln>
        </p:spPr>
      </p:sp>
      <p:sp>
        <p:nvSpPr>
          <p:cNvPr id="7" name="Shape 4"/>
          <p:cNvSpPr/>
          <p:nvPr/>
        </p:nvSpPr>
        <p:spPr>
          <a:xfrm>
            <a:off x="1280160" y="978408"/>
            <a:ext cx="548640" cy="548640"/>
          </a:xfrm>
          <a:prstGeom prst="ellipse">
            <a:avLst/>
          </a:prstGeom>
          <a:solidFill>
            <a:srgbClr val="02C39A"/>
          </a:solidFill>
          <a:ln w="12700">
            <a:solidFill>
              <a:srgbClr val="02C39A"/>
            </a:solidFill>
            <a:prstDash val="solid"/>
          </a:ln>
        </p:spPr>
      </p:sp>
      <p:sp>
        <p:nvSpPr>
          <p:cNvPr id="8" name="Text 5"/>
          <p:cNvSpPr/>
          <p:nvPr/>
        </p:nvSpPr>
        <p:spPr>
          <a:xfrm>
            <a:off x="1280160" y="978408"/>
            <a:ext cx="548640" cy="548640"/>
          </a:xfrm>
          <a:prstGeom prst="rect">
            <a:avLst/>
          </a:prstGeom>
          <a:noFill/>
          <a:ln/>
        </p:spPr>
        <p:txBody>
          <a:bodyPr wrap="square" lIns="0" tIns="0" rIns="0" bIns="0" rtlCol="0" anchor="ctr"/>
          <a:lstStyle/>
          <a:p>
            <a:pPr algn="ctr" indent="0" marL="0">
              <a:buNone/>
            </a:pPr>
            <a:r>
              <a:rPr lang="en-US" sz="1600" b="1" dirty="0">
                <a:solidFill>
                  <a:srgbClr val="0A2342"/>
                </a:solidFill>
                <a:latin typeface="Calibri" pitchFamily="34" charset="0"/>
                <a:ea typeface="Calibri" pitchFamily="34" charset="-122"/>
                <a:cs typeface="Calibri" pitchFamily="34" charset="-120"/>
              </a:rPr>
              <a:t>1</a:t>
            </a:r>
            <a:endParaRPr lang="en-US" sz="1600" dirty="0"/>
          </a:p>
        </p:txBody>
      </p:sp>
      <p:sp>
        <p:nvSpPr>
          <p:cNvPr id="9" name="Text 6"/>
          <p:cNvSpPr/>
          <p:nvPr/>
        </p:nvSpPr>
        <p:spPr>
          <a:xfrm>
            <a:off x="384048" y="1600200"/>
            <a:ext cx="2523744" cy="457200"/>
          </a:xfrm>
          <a:prstGeom prst="rect">
            <a:avLst/>
          </a:prstGeom>
          <a:noFill/>
          <a:ln/>
        </p:spPr>
        <p:txBody>
          <a:bodyPr wrap="square"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Schools</a:t>
            </a:r>
            <a:endParaRPr lang="en-US" sz="1300" dirty="0"/>
          </a:p>
        </p:txBody>
      </p:sp>
      <p:sp>
        <p:nvSpPr>
          <p:cNvPr id="10" name="Text 7"/>
          <p:cNvSpPr/>
          <p:nvPr/>
        </p:nvSpPr>
        <p:spPr>
          <a:xfrm>
            <a:off x="384048" y="2039112"/>
            <a:ext cx="2523744" cy="438912"/>
          </a:xfrm>
          <a:prstGeom prst="rect">
            <a:avLst/>
          </a:prstGeom>
          <a:noFill/>
          <a:ln/>
        </p:spPr>
        <p:txBody>
          <a:bodyPr wrap="square" rtlCol="0" anchor="ctr"/>
          <a:lstStyle/>
          <a:p>
            <a:pPr algn="ctr" indent="0" marL="0">
              <a:buNone/>
            </a:pPr>
            <a:r>
              <a:rPr lang="en-US" sz="1100" dirty="0">
                <a:solidFill>
                  <a:srgbClr val="8BBFD4"/>
                </a:solidFill>
                <a:latin typeface="Calibri" pitchFamily="34" charset="0"/>
                <a:ea typeface="Calibri" pitchFamily="34" charset="-122"/>
                <a:cs typeface="Calibri" pitchFamily="34" charset="-120"/>
              </a:rPr>
              <a:t>Automate seating for school examinations</a:t>
            </a:r>
            <a:endParaRPr lang="en-US" sz="1100" dirty="0"/>
          </a:p>
        </p:txBody>
      </p:sp>
      <p:sp>
        <p:nvSpPr>
          <p:cNvPr id="11" name="Shape 8"/>
          <p:cNvSpPr/>
          <p:nvPr/>
        </p:nvSpPr>
        <p:spPr>
          <a:xfrm>
            <a:off x="3182112" y="868680"/>
            <a:ext cx="2743200" cy="1691640"/>
          </a:xfrm>
          <a:prstGeom prst="roundRect">
            <a:avLst>
              <a:gd name="adj" fmla="val 5405"/>
            </a:avLst>
          </a:prstGeom>
          <a:solidFill>
            <a:srgbClr val="0D2B50"/>
          </a:solidFill>
          <a:ln w="19050">
            <a:solidFill>
              <a:srgbClr val="028090"/>
            </a:solidFill>
            <a:prstDash val="solid"/>
          </a:ln>
        </p:spPr>
      </p:sp>
      <p:sp>
        <p:nvSpPr>
          <p:cNvPr id="12" name="Shape 9"/>
          <p:cNvSpPr/>
          <p:nvPr/>
        </p:nvSpPr>
        <p:spPr>
          <a:xfrm>
            <a:off x="4187952" y="978408"/>
            <a:ext cx="548640" cy="548640"/>
          </a:xfrm>
          <a:prstGeom prst="ellipse">
            <a:avLst/>
          </a:prstGeom>
          <a:solidFill>
            <a:srgbClr val="02C39A"/>
          </a:solidFill>
          <a:ln w="12700">
            <a:solidFill>
              <a:srgbClr val="02C39A"/>
            </a:solidFill>
            <a:prstDash val="solid"/>
          </a:ln>
        </p:spPr>
      </p:sp>
      <p:sp>
        <p:nvSpPr>
          <p:cNvPr id="13" name="Text 10"/>
          <p:cNvSpPr/>
          <p:nvPr/>
        </p:nvSpPr>
        <p:spPr>
          <a:xfrm>
            <a:off x="4187952" y="978408"/>
            <a:ext cx="548640" cy="548640"/>
          </a:xfrm>
          <a:prstGeom prst="rect">
            <a:avLst/>
          </a:prstGeom>
          <a:noFill/>
          <a:ln/>
        </p:spPr>
        <p:txBody>
          <a:bodyPr wrap="square" lIns="0" tIns="0" rIns="0" bIns="0" rtlCol="0" anchor="ctr"/>
          <a:lstStyle/>
          <a:p>
            <a:pPr algn="ctr" indent="0" marL="0">
              <a:buNone/>
            </a:pPr>
            <a:r>
              <a:rPr lang="en-US" sz="1600" b="1" dirty="0">
                <a:solidFill>
                  <a:srgbClr val="0A2342"/>
                </a:solidFill>
                <a:latin typeface="Calibri" pitchFamily="34" charset="0"/>
                <a:ea typeface="Calibri" pitchFamily="34" charset="-122"/>
                <a:cs typeface="Calibri" pitchFamily="34" charset="-120"/>
              </a:rPr>
              <a:t>2</a:t>
            </a:r>
            <a:endParaRPr lang="en-US" sz="1600" dirty="0"/>
          </a:p>
        </p:txBody>
      </p:sp>
      <p:sp>
        <p:nvSpPr>
          <p:cNvPr id="14" name="Text 11"/>
          <p:cNvSpPr/>
          <p:nvPr/>
        </p:nvSpPr>
        <p:spPr>
          <a:xfrm>
            <a:off x="3291840" y="1600200"/>
            <a:ext cx="2523744" cy="457200"/>
          </a:xfrm>
          <a:prstGeom prst="rect">
            <a:avLst/>
          </a:prstGeom>
          <a:noFill/>
          <a:ln/>
        </p:spPr>
        <p:txBody>
          <a:bodyPr wrap="square"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Colleges &amp; Universities</a:t>
            </a:r>
            <a:endParaRPr lang="en-US" sz="1300" dirty="0"/>
          </a:p>
        </p:txBody>
      </p:sp>
      <p:sp>
        <p:nvSpPr>
          <p:cNvPr id="15" name="Text 12"/>
          <p:cNvSpPr/>
          <p:nvPr/>
        </p:nvSpPr>
        <p:spPr>
          <a:xfrm>
            <a:off x="3291840" y="2039112"/>
            <a:ext cx="2523744" cy="438912"/>
          </a:xfrm>
          <a:prstGeom prst="rect">
            <a:avLst/>
          </a:prstGeom>
          <a:noFill/>
          <a:ln/>
        </p:spPr>
        <p:txBody>
          <a:bodyPr wrap="square" rtlCol="0" anchor="ctr"/>
          <a:lstStyle/>
          <a:p>
            <a:pPr algn="ctr" indent="0" marL="0">
              <a:buNone/>
            </a:pPr>
            <a:r>
              <a:rPr lang="en-US" sz="1100" dirty="0">
                <a:solidFill>
                  <a:srgbClr val="8BBFD4"/>
                </a:solidFill>
                <a:latin typeface="Calibri" pitchFamily="34" charset="0"/>
                <a:ea typeface="Calibri" pitchFamily="34" charset="-122"/>
                <a:cs typeface="Calibri" pitchFamily="34" charset="-120"/>
              </a:rPr>
              <a:t>Manage large-scale hall arrangements</a:t>
            </a:r>
            <a:endParaRPr lang="en-US" sz="1100" dirty="0"/>
          </a:p>
        </p:txBody>
      </p:sp>
      <p:sp>
        <p:nvSpPr>
          <p:cNvPr id="16" name="Shape 13"/>
          <p:cNvSpPr/>
          <p:nvPr/>
        </p:nvSpPr>
        <p:spPr>
          <a:xfrm>
            <a:off x="6089904" y="868680"/>
            <a:ext cx="2743200" cy="1691640"/>
          </a:xfrm>
          <a:prstGeom prst="roundRect">
            <a:avLst>
              <a:gd name="adj" fmla="val 5405"/>
            </a:avLst>
          </a:prstGeom>
          <a:solidFill>
            <a:srgbClr val="0D2B50"/>
          </a:solidFill>
          <a:ln w="19050">
            <a:solidFill>
              <a:srgbClr val="028090"/>
            </a:solidFill>
            <a:prstDash val="solid"/>
          </a:ln>
        </p:spPr>
      </p:sp>
      <p:sp>
        <p:nvSpPr>
          <p:cNvPr id="17" name="Shape 14"/>
          <p:cNvSpPr/>
          <p:nvPr/>
        </p:nvSpPr>
        <p:spPr>
          <a:xfrm>
            <a:off x="7095744" y="978408"/>
            <a:ext cx="548640" cy="548640"/>
          </a:xfrm>
          <a:prstGeom prst="ellipse">
            <a:avLst/>
          </a:prstGeom>
          <a:solidFill>
            <a:srgbClr val="02C39A"/>
          </a:solidFill>
          <a:ln w="12700">
            <a:solidFill>
              <a:srgbClr val="02C39A"/>
            </a:solidFill>
            <a:prstDash val="solid"/>
          </a:ln>
        </p:spPr>
      </p:sp>
      <p:sp>
        <p:nvSpPr>
          <p:cNvPr id="18" name="Text 15"/>
          <p:cNvSpPr/>
          <p:nvPr/>
        </p:nvSpPr>
        <p:spPr>
          <a:xfrm>
            <a:off x="7095744" y="978408"/>
            <a:ext cx="548640" cy="548640"/>
          </a:xfrm>
          <a:prstGeom prst="rect">
            <a:avLst/>
          </a:prstGeom>
          <a:noFill/>
          <a:ln/>
        </p:spPr>
        <p:txBody>
          <a:bodyPr wrap="square" lIns="0" tIns="0" rIns="0" bIns="0" rtlCol="0" anchor="ctr"/>
          <a:lstStyle/>
          <a:p>
            <a:pPr algn="ctr" indent="0" marL="0">
              <a:buNone/>
            </a:pPr>
            <a:r>
              <a:rPr lang="en-US" sz="1600" b="1" dirty="0">
                <a:solidFill>
                  <a:srgbClr val="0A2342"/>
                </a:solidFill>
                <a:latin typeface="Calibri" pitchFamily="34" charset="0"/>
                <a:ea typeface="Calibri" pitchFamily="34" charset="-122"/>
                <a:cs typeface="Calibri" pitchFamily="34" charset="-120"/>
              </a:rPr>
              <a:t>3</a:t>
            </a:r>
            <a:endParaRPr lang="en-US" sz="1600" dirty="0"/>
          </a:p>
        </p:txBody>
      </p:sp>
      <p:sp>
        <p:nvSpPr>
          <p:cNvPr id="19" name="Text 16"/>
          <p:cNvSpPr/>
          <p:nvPr/>
        </p:nvSpPr>
        <p:spPr>
          <a:xfrm>
            <a:off x="6199632" y="1600200"/>
            <a:ext cx="2523744" cy="457200"/>
          </a:xfrm>
          <a:prstGeom prst="rect">
            <a:avLst/>
          </a:prstGeom>
          <a:noFill/>
          <a:ln/>
        </p:spPr>
        <p:txBody>
          <a:bodyPr wrap="square"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Competitive Exam Centers</a:t>
            </a:r>
            <a:endParaRPr lang="en-US" sz="1300" dirty="0"/>
          </a:p>
        </p:txBody>
      </p:sp>
      <p:sp>
        <p:nvSpPr>
          <p:cNvPr id="20" name="Text 17"/>
          <p:cNvSpPr/>
          <p:nvPr/>
        </p:nvSpPr>
        <p:spPr>
          <a:xfrm>
            <a:off x="6199632" y="2039112"/>
            <a:ext cx="2523744" cy="438912"/>
          </a:xfrm>
          <a:prstGeom prst="rect">
            <a:avLst/>
          </a:prstGeom>
          <a:noFill/>
          <a:ln/>
        </p:spPr>
        <p:txBody>
          <a:bodyPr wrap="square" rtlCol="0" anchor="ctr"/>
          <a:lstStyle/>
          <a:p>
            <a:pPr algn="ctr" indent="0" marL="0">
              <a:buNone/>
            </a:pPr>
            <a:r>
              <a:rPr lang="en-US" sz="1100" dirty="0">
                <a:solidFill>
                  <a:srgbClr val="8BBFD4"/>
                </a:solidFill>
                <a:latin typeface="Calibri" pitchFamily="34" charset="0"/>
                <a:ea typeface="Calibri" pitchFamily="34" charset="-122"/>
                <a:cs typeface="Calibri" pitchFamily="34" charset="-120"/>
              </a:rPr>
              <a:t>Handle thousands of candidates efficiently</a:t>
            </a:r>
            <a:endParaRPr lang="en-US" sz="1100" dirty="0"/>
          </a:p>
        </p:txBody>
      </p:sp>
      <p:sp>
        <p:nvSpPr>
          <p:cNvPr id="21" name="Shape 18"/>
          <p:cNvSpPr/>
          <p:nvPr/>
        </p:nvSpPr>
        <p:spPr>
          <a:xfrm>
            <a:off x="274320" y="2788920"/>
            <a:ext cx="2743200" cy="1691640"/>
          </a:xfrm>
          <a:prstGeom prst="roundRect">
            <a:avLst>
              <a:gd name="adj" fmla="val 5405"/>
            </a:avLst>
          </a:prstGeom>
          <a:solidFill>
            <a:srgbClr val="0D2B50"/>
          </a:solidFill>
          <a:ln w="19050">
            <a:solidFill>
              <a:srgbClr val="028090"/>
            </a:solidFill>
            <a:prstDash val="solid"/>
          </a:ln>
        </p:spPr>
      </p:sp>
      <p:sp>
        <p:nvSpPr>
          <p:cNvPr id="22" name="Shape 19"/>
          <p:cNvSpPr/>
          <p:nvPr/>
        </p:nvSpPr>
        <p:spPr>
          <a:xfrm>
            <a:off x="1280160" y="2898648"/>
            <a:ext cx="548640" cy="548640"/>
          </a:xfrm>
          <a:prstGeom prst="ellipse">
            <a:avLst/>
          </a:prstGeom>
          <a:solidFill>
            <a:srgbClr val="02C39A"/>
          </a:solidFill>
          <a:ln w="12700">
            <a:solidFill>
              <a:srgbClr val="02C39A"/>
            </a:solidFill>
            <a:prstDash val="solid"/>
          </a:ln>
        </p:spPr>
      </p:sp>
      <p:sp>
        <p:nvSpPr>
          <p:cNvPr id="23" name="Text 20"/>
          <p:cNvSpPr/>
          <p:nvPr/>
        </p:nvSpPr>
        <p:spPr>
          <a:xfrm>
            <a:off x="1280160" y="2898648"/>
            <a:ext cx="548640" cy="548640"/>
          </a:xfrm>
          <a:prstGeom prst="rect">
            <a:avLst/>
          </a:prstGeom>
          <a:noFill/>
          <a:ln/>
        </p:spPr>
        <p:txBody>
          <a:bodyPr wrap="square" lIns="0" tIns="0" rIns="0" bIns="0" rtlCol="0" anchor="ctr"/>
          <a:lstStyle/>
          <a:p>
            <a:pPr algn="ctr" indent="0" marL="0">
              <a:buNone/>
            </a:pPr>
            <a:r>
              <a:rPr lang="en-US" sz="1600" b="1" dirty="0">
                <a:solidFill>
                  <a:srgbClr val="0A2342"/>
                </a:solidFill>
                <a:latin typeface="Calibri" pitchFamily="34" charset="0"/>
                <a:ea typeface="Calibri" pitchFamily="34" charset="-122"/>
                <a:cs typeface="Calibri" pitchFamily="34" charset="-120"/>
              </a:rPr>
              <a:t>4</a:t>
            </a:r>
            <a:endParaRPr lang="en-US" sz="1600" dirty="0"/>
          </a:p>
        </p:txBody>
      </p:sp>
      <p:sp>
        <p:nvSpPr>
          <p:cNvPr id="24" name="Text 21"/>
          <p:cNvSpPr/>
          <p:nvPr/>
        </p:nvSpPr>
        <p:spPr>
          <a:xfrm>
            <a:off x="384048" y="3520440"/>
            <a:ext cx="2523744" cy="457200"/>
          </a:xfrm>
          <a:prstGeom prst="rect">
            <a:avLst/>
          </a:prstGeom>
          <a:noFill/>
          <a:ln/>
        </p:spPr>
        <p:txBody>
          <a:bodyPr wrap="square"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Training Institutes</a:t>
            </a:r>
            <a:endParaRPr lang="en-US" sz="1300" dirty="0"/>
          </a:p>
        </p:txBody>
      </p:sp>
      <p:sp>
        <p:nvSpPr>
          <p:cNvPr id="25" name="Text 22"/>
          <p:cNvSpPr/>
          <p:nvPr/>
        </p:nvSpPr>
        <p:spPr>
          <a:xfrm>
            <a:off x="384048" y="3959352"/>
            <a:ext cx="2523744" cy="438912"/>
          </a:xfrm>
          <a:prstGeom prst="rect">
            <a:avLst/>
          </a:prstGeom>
          <a:noFill/>
          <a:ln/>
        </p:spPr>
        <p:txBody>
          <a:bodyPr wrap="square" rtlCol="0" anchor="ctr"/>
          <a:lstStyle/>
          <a:p>
            <a:pPr algn="ctr" indent="0" marL="0">
              <a:buNone/>
            </a:pPr>
            <a:r>
              <a:rPr lang="en-US" sz="1100" dirty="0">
                <a:solidFill>
                  <a:srgbClr val="8BBFD4"/>
                </a:solidFill>
                <a:latin typeface="Calibri" pitchFamily="34" charset="0"/>
                <a:ea typeface="Calibri" pitchFamily="34" charset="-122"/>
                <a:cs typeface="Calibri" pitchFamily="34" charset="-120"/>
              </a:rPr>
              <a:t>Organize assessment seating quickly</a:t>
            </a:r>
            <a:endParaRPr lang="en-US" sz="1100" dirty="0"/>
          </a:p>
        </p:txBody>
      </p:sp>
      <p:sp>
        <p:nvSpPr>
          <p:cNvPr id="26" name="Shape 23"/>
          <p:cNvSpPr/>
          <p:nvPr/>
        </p:nvSpPr>
        <p:spPr>
          <a:xfrm>
            <a:off x="3182112" y="2788920"/>
            <a:ext cx="2743200" cy="1691640"/>
          </a:xfrm>
          <a:prstGeom prst="roundRect">
            <a:avLst>
              <a:gd name="adj" fmla="val 5405"/>
            </a:avLst>
          </a:prstGeom>
          <a:solidFill>
            <a:srgbClr val="0D2B50"/>
          </a:solidFill>
          <a:ln w="19050">
            <a:solidFill>
              <a:srgbClr val="028090"/>
            </a:solidFill>
            <a:prstDash val="solid"/>
          </a:ln>
        </p:spPr>
      </p:sp>
      <p:sp>
        <p:nvSpPr>
          <p:cNvPr id="27" name="Shape 24"/>
          <p:cNvSpPr/>
          <p:nvPr/>
        </p:nvSpPr>
        <p:spPr>
          <a:xfrm>
            <a:off x="4187952" y="2898648"/>
            <a:ext cx="548640" cy="548640"/>
          </a:xfrm>
          <a:prstGeom prst="ellipse">
            <a:avLst/>
          </a:prstGeom>
          <a:solidFill>
            <a:srgbClr val="02C39A"/>
          </a:solidFill>
          <a:ln w="12700">
            <a:solidFill>
              <a:srgbClr val="02C39A"/>
            </a:solidFill>
            <a:prstDash val="solid"/>
          </a:ln>
        </p:spPr>
      </p:sp>
      <p:sp>
        <p:nvSpPr>
          <p:cNvPr id="28" name="Text 25"/>
          <p:cNvSpPr/>
          <p:nvPr/>
        </p:nvSpPr>
        <p:spPr>
          <a:xfrm>
            <a:off x="4187952" y="2898648"/>
            <a:ext cx="548640" cy="548640"/>
          </a:xfrm>
          <a:prstGeom prst="rect">
            <a:avLst/>
          </a:prstGeom>
          <a:noFill/>
          <a:ln/>
        </p:spPr>
        <p:txBody>
          <a:bodyPr wrap="square" lIns="0" tIns="0" rIns="0" bIns="0" rtlCol="0" anchor="ctr"/>
          <a:lstStyle/>
          <a:p>
            <a:pPr algn="ctr" indent="0" marL="0">
              <a:buNone/>
            </a:pPr>
            <a:r>
              <a:rPr lang="en-US" sz="1600" b="1" dirty="0">
                <a:solidFill>
                  <a:srgbClr val="0A2342"/>
                </a:solidFill>
                <a:latin typeface="Calibri" pitchFamily="34" charset="0"/>
                <a:ea typeface="Calibri" pitchFamily="34" charset="-122"/>
                <a:cs typeface="Calibri" pitchFamily="34" charset="-120"/>
              </a:rPr>
              <a:t>5</a:t>
            </a:r>
            <a:endParaRPr lang="en-US" sz="1600" dirty="0"/>
          </a:p>
        </p:txBody>
      </p:sp>
      <p:sp>
        <p:nvSpPr>
          <p:cNvPr id="29" name="Text 26"/>
          <p:cNvSpPr/>
          <p:nvPr/>
        </p:nvSpPr>
        <p:spPr>
          <a:xfrm>
            <a:off x="3291840" y="3520440"/>
            <a:ext cx="2523744" cy="457200"/>
          </a:xfrm>
          <a:prstGeom prst="rect">
            <a:avLst/>
          </a:prstGeom>
          <a:noFill/>
          <a:ln/>
        </p:spPr>
        <p:txBody>
          <a:bodyPr wrap="square"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Online Exam Management</a:t>
            </a:r>
            <a:endParaRPr lang="en-US" sz="1300" dirty="0"/>
          </a:p>
        </p:txBody>
      </p:sp>
      <p:sp>
        <p:nvSpPr>
          <p:cNvPr id="30" name="Text 27"/>
          <p:cNvSpPr/>
          <p:nvPr/>
        </p:nvSpPr>
        <p:spPr>
          <a:xfrm>
            <a:off x="3291840" y="3959352"/>
            <a:ext cx="2523744" cy="438912"/>
          </a:xfrm>
          <a:prstGeom prst="rect">
            <a:avLst/>
          </a:prstGeom>
          <a:noFill/>
          <a:ln/>
        </p:spPr>
        <p:txBody>
          <a:bodyPr wrap="square" rtlCol="0" anchor="ctr"/>
          <a:lstStyle/>
          <a:p>
            <a:pPr algn="ctr" indent="0" marL="0">
              <a:buNone/>
            </a:pPr>
            <a:r>
              <a:rPr lang="en-US" sz="1100" dirty="0">
                <a:solidFill>
                  <a:srgbClr val="8BBFD4"/>
                </a:solidFill>
                <a:latin typeface="Calibri" pitchFamily="34" charset="0"/>
                <a:ea typeface="Calibri" pitchFamily="34" charset="-122"/>
                <a:cs typeface="Calibri" pitchFamily="34" charset="-120"/>
              </a:rPr>
              <a:t>Coordinate hybrid exam environments</a:t>
            </a:r>
            <a:endParaRPr lang="en-US" sz="1100" dirty="0"/>
          </a:p>
        </p:txBody>
      </p:sp>
      <p:sp>
        <p:nvSpPr>
          <p:cNvPr id="31" name="Shape 28"/>
          <p:cNvSpPr/>
          <p:nvPr/>
        </p:nvSpPr>
        <p:spPr>
          <a:xfrm>
            <a:off x="6089904" y="2788920"/>
            <a:ext cx="2743200" cy="1691640"/>
          </a:xfrm>
          <a:prstGeom prst="roundRect">
            <a:avLst>
              <a:gd name="adj" fmla="val 5405"/>
            </a:avLst>
          </a:prstGeom>
          <a:solidFill>
            <a:srgbClr val="0D2B50"/>
          </a:solidFill>
          <a:ln w="19050">
            <a:solidFill>
              <a:srgbClr val="028090"/>
            </a:solidFill>
            <a:prstDash val="solid"/>
          </a:ln>
        </p:spPr>
      </p:sp>
      <p:sp>
        <p:nvSpPr>
          <p:cNvPr id="32" name="Shape 29"/>
          <p:cNvSpPr/>
          <p:nvPr/>
        </p:nvSpPr>
        <p:spPr>
          <a:xfrm>
            <a:off x="7095744" y="2898648"/>
            <a:ext cx="548640" cy="548640"/>
          </a:xfrm>
          <a:prstGeom prst="ellipse">
            <a:avLst/>
          </a:prstGeom>
          <a:solidFill>
            <a:srgbClr val="02C39A"/>
          </a:solidFill>
          <a:ln w="12700">
            <a:solidFill>
              <a:srgbClr val="02C39A"/>
            </a:solidFill>
            <a:prstDash val="solid"/>
          </a:ln>
        </p:spPr>
      </p:sp>
      <p:sp>
        <p:nvSpPr>
          <p:cNvPr id="33" name="Text 30"/>
          <p:cNvSpPr/>
          <p:nvPr/>
        </p:nvSpPr>
        <p:spPr>
          <a:xfrm>
            <a:off x="7095744" y="2898648"/>
            <a:ext cx="548640" cy="548640"/>
          </a:xfrm>
          <a:prstGeom prst="rect">
            <a:avLst/>
          </a:prstGeom>
          <a:noFill/>
          <a:ln/>
        </p:spPr>
        <p:txBody>
          <a:bodyPr wrap="square" lIns="0" tIns="0" rIns="0" bIns="0" rtlCol="0" anchor="ctr"/>
          <a:lstStyle/>
          <a:p>
            <a:pPr algn="ctr" indent="0" marL="0">
              <a:buNone/>
            </a:pPr>
            <a:r>
              <a:rPr lang="en-US" sz="1600" b="1" dirty="0">
                <a:solidFill>
                  <a:srgbClr val="0A2342"/>
                </a:solidFill>
                <a:latin typeface="Calibri" pitchFamily="34" charset="0"/>
                <a:ea typeface="Calibri" pitchFamily="34" charset="-122"/>
                <a:cs typeface="Calibri" pitchFamily="34" charset="-120"/>
              </a:rPr>
              <a:t>6</a:t>
            </a:r>
            <a:endParaRPr lang="en-US" sz="1600" dirty="0"/>
          </a:p>
        </p:txBody>
      </p:sp>
      <p:sp>
        <p:nvSpPr>
          <p:cNvPr id="34" name="Text 31"/>
          <p:cNvSpPr/>
          <p:nvPr/>
        </p:nvSpPr>
        <p:spPr>
          <a:xfrm>
            <a:off x="6199632" y="3520440"/>
            <a:ext cx="2523744" cy="457200"/>
          </a:xfrm>
          <a:prstGeom prst="rect">
            <a:avLst/>
          </a:prstGeom>
          <a:noFill/>
          <a:ln/>
        </p:spPr>
        <p:txBody>
          <a:bodyPr wrap="square"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Educational Organizations</a:t>
            </a:r>
            <a:endParaRPr lang="en-US" sz="1300" dirty="0"/>
          </a:p>
        </p:txBody>
      </p:sp>
      <p:sp>
        <p:nvSpPr>
          <p:cNvPr id="35" name="Text 32"/>
          <p:cNvSpPr/>
          <p:nvPr/>
        </p:nvSpPr>
        <p:spPr>
          <a:xfrm>
            <a:off x="6199632" y="3959352"/>
            <a:ext cx="2523744" cy="438912"/>
          </a:xfrm>
          <a:prstGeom prst="rect">
            <a:avLst/>
          </a:prstGeom>
          <a:noFill/>
          <a:ln/>
        </p:spPr>
        <p:txBody>
          <a:bodyPr wrap="square" rtlCol="0" anchor="ctr"/>
          <a:lstStyle/>
          <a:p>
            <a:pPr algn="ctr" indent="0" marL="0">
              <a:buNone/>
            </a:pPr>
            <a:r>
              <a:rPr lang="en-US" sz="1100" dirty="0">
                <a:solidFill>
                  <a:srgbClr val="8BBFD4"/>
                </a:solidFill>
                <a:latin typeface="Calibri" pitchFamily="34" charset="0"/>
                <a:ea typeface="Calibri" pitchFamily="34" charset="-122"/>
                <a:cs typeface="Calibri" pitchFamily="34" charset="-120"/>
              </a:rPr>
              <a:t>Streamline exam logistics institution-wide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sp>
      <p:sp>
        <p:nvSpPr>
          <p:cNvPr id="3" name="Shape 1"/>
          <p:cNvSpPr/>
          <p:nvPr/>
        </p:nvSpPr>
        <p:spPr>
          <a:xfrm>
            <a:off x="0" y="0"/>
            <a:ext cx="164592" cy="685800"/>
          </a:xfrm>
          <a:prstGeom prst="rect">
            <a:avLst/>
          </a:prstGeom>
          <a:solidFill>
            <a:srgbClr val="02C39A"/>
          </a:solidFill>
          <a:ln w="12700">
            <a:solidFill>
              <a:srgbClr val="02C39A"/>
            </a:solidFill>
            <a:prstDash val="solid"/>
          </a:ln>
        </p:spPr>
      </p:sp>
      <p:sp>
        <p:nvSpPr>
          <p:cNvPr id="4" name="Text 2"/>
          <p:cNvSpPr/>
          <p:nvPr/>
        </p:nvSpPr>
        <p:spPr>
          <a:xfrm>
            <a:off x="320040" y="0"/>
            <a:ext cx="77724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Conclusion</a:t>
            </a:r>
            <a:endParaRPr lang="en-US" sz="2200" dirty="0"/>
          </a:p>
        </p:txBody>
      </p:sp>
      <p:pic>
        <p:nvPicPr>
          <p:cNvPr id="5" name="Image 0" descr="/home/claude/pptx_media/ppt/media/image3.png">    </p:cNvPr>
          <p:cNvPicPr>
            <a:picLocks noChangeAspect="1"/>
          </p:cNvPicPr>
          <p:nvPr/>
        </p:nvPicPr>
        <p:blipFill>
          <a:blip r:embed="rId1"/>
          <a:stretch>
            <a:fillRect/>
          </a:stretch>
        </p:blipFill>
        <p:spPr>
          <a:xfrm>
            <a:off x="7589520" y="45720"/>
            <a:ext cx="1371600" cy="594360"/>
          </a:xfrm>
          <a:prstGeom prst="rect">
            <a:avLst/>
          </a:prstGeom>
        </p:spPr>
      </p:pic>
      <p:sp>
        <p:nvSpPr>
          <p:cNvPr id="6" name="Shape 3"/>
          <p:cNvSpPr/>
          <p:nvPr/>
        </p:nvSpPr>
        <p:spPr>
          <a:xfrm>
            <a:off x="365760" y="868680"/>
            <a:ext cx="8412480" cy="2560320"/>
          </a:xfrm>
          <a:prstGeom prst="roundRect">
            <a:avLst>
              <a:gd name="adj" fmla="val 3571"/>
            </a:avLst>
          </a:prstGeom>
          <a:solidFill>
            <a:srgbClr val="028090"/>
          </a:solidFill>
          <a:ln w="12700">
            <a:solidFill>
              <a:srgbClr val="028090"/>
            </a:solidFill>
            <a:prstDash val="solid"/>
          </a:ln>
        </p:spPr>
      </p:sp>
      <p:sp>
        <p:nvSpPr>
          <p:cNvPr id="7" name="Text 4"/>
          <p:cNvSpPr/>
          <p:nvPr/>
        </p:nvSpPr>
        <p:spPr>
          <a:xfrm>
            <a:off x="640080" y="960120"/>
            <a:ext cx="7863840" cy="2377440"/>
          </a:xfrm>
          <a:prstGeom prst="rect">
            <a:avLst/>
          </a:prstGeom>
          <a:noFill/>
          <a:ln/>
        </p:spPr>
        <p:txBody>
          <a:bodyPr wrap="square" rtlCol="0" anchor="ctr"/>
          <a:lstStyle/>
          <a:p>
            <a:pPr algn="l" indent="0" marL="0">
              <a:lnSpc>
                <a:spcPct val="135000"/>
              </a:lnSpc>
              <a:spcAft>
                <a:spcPts val="600"/>
              </a:spcAft>
              <a:buNone/>
            </a:pPr>
            <a:r>
              <a:rPr lang="en-US" sz="1600" dirty="0">
                <a:solidFill>
                  <a:srgbClr val="FFFFFF"/>
                </a:solidFill>
                <a:latin typeface="Calibri" pitchFamily="34" charset="0"/>
                <a:ea typeface="Calibri" pitchFamily="34" charset="-122"/>
                <a:cs typeface="Calibri" pitchFamily="34" charset="-120"/>
              </a:rPr>
              <a:t>The Examination Seating Arrangement System helps automate the process of arranging students during examinations. It reduces manual work, saves time, and minimizes errors in seating allocation. The system improves exam hall management and provides organized seating arrangements efficiently. It is useful for schools, colleges, and universities for conducting examinations smoothly.</a:t>
            </a:r>
            <a:endParaRPr lang="en-US" sz="1600" dirty="0"/>
          </a:p>
        </p:txBody>
      </p:sp>
      <p:sp>
        <p:nvSpPr>
          <p:cNvPr id="8" name="Shape 5"/>
          <p:cNvSpPr/>
          <p:nvPr/>
        </p:nvSpPr>
        <p:spPr>
          <a:xfrm>
            <a:off x="365760" y="3657600"/>
            <a:ext cx="1965960" cy="1188720"/>
          </a:xfrm>
          <a:prstGeom prst="roundRect">
            <a:avLst>
              <a:gd name="adj" fmla="val 6154"/>
            </a:avLst>
          </a:prstGeom>
          <a:solidFill>
            <a:srgbClr val="FFFFFF"/>
          </a:solidFill>
          <a:ln w="12700">
            <a:solidFill>
              <a:srgbClr val="0A2342"/>
            </a:solidFill>
            <a:prstDash val="solid"/>
          </a:ln>
          <a:effectLst>
            <a:outerShdw sx="100000" sy="100000" kx="0" ky="0" algn="bl" rotWithShape="0" blurRad="76200" dist="25400" dir="2700000">
              <a:srgbClr val="000000">
                <a:alpha val="8000"/>
              </a:srgbClr>
            </a:outerShdw>
          </a:effectLst>
        </p:spPr>
      </p:sp>
      <p:sp>
        <p:nvSpPr>
          <p:cNvPr id="9" name="Shape 6"/>
          <p:cNvSpPr/>
          <p:nvPr/>
        </p:nvSpPr>
        <p:spPr>
          <a:xfrm>
            <a:off x="365760" y="3657600"/>
            <a:ext cx="1965960" cy="201168"/>
          </a:xfrm>
          <a:prstGeom prst="rect">
            <a:avLst/>
          </a:prstGeom>
          <a:solidFill>
            <a:srgbClr val="0A2342"/>
          </a:solidFill>
          <a:ln w="12700">
            <a:solidFill>
              <a:srgbClr val="0A2342"/>
            </a:solidFill>
            <a:prstDash val="solid"/>
          </a:ln>
        </p:spPr>
      </p:sp>
      <p:sp>
        <p:nvSpPr>
          <p:cNvPr id="10" name="Text 7"/>
          <p:cNvSpPr/>
          <p:nvPr/>
        </p:nvSpPr>
        <p:spPr>
          <a:xfrm>
            <a:off x="438912" y="3858768"/>
            <a:ext cx="1819656" cy="804672"/>
          </a:xfrm>
          <a:prstGeom prst="rect">
            <a:avLst/>
          </a:prstGeom>
          <a:noFill/>
          <a:ln/>
        </p:spPr>
        <p:txBody>
          <a:bodyPr wrap="square" rtlCol="0" anchor="ctr"/>
          <a:lstStyle/>
          <a:p>
            <a:pPr algn="ctr" indent="0" marL="0">
              <a:buNone/>
            </a:pPr>
            <a:r>
              <a:rPr lang="en-US" sz="1250" b="1" dirty="0">
                <a:solidFill>
                  <a:srgbClr val="0A2342"/>
                </a:solidFill>
                <a:latin typeface="Calibri" pitchFamily="34" charset="0"/>
                <a:ea typeface="Calibri" pitchFamily="34" charset="-122"/>
                <a:cs typeface="Calibri" pitchFamily="34" charset="-120"/>
              </a:rPr>
              <a:t>Automates seating</a:t>
            </a:r>
            <a:endParaRPr lang="en-US" sz="1250" dirty="0"/>
          </a:p>
        </p:txBody>
      </p:sp>
      <p:sp>
        <p:nvSpPr>
          <p:cNvPr id="11" name="Shape 8"/>
          <p:cNvSpPr/>
          <p:nvPr/>
        </p:nvSpPr>
        <p:spPr>
          <a:xfrm>
            <a:off x="2487168" y="3657600"/>
            <a:ext cx="1965960" cy="1188720"/>
          </a:xfrm>
          <a:prstGeom prst="roundRect">
            <a:avLst>
              <a:gd name="adj" fmla="val 6154"/>
            </a:avLst>
          </a:prstGeom>
          <a:solidFill>
            <a:srgbClr val="FFFFFF"/>
          </a:solidFill>
          <a:ln w="12700">
            <a:solidFill>
              <a:srgbClr val="0A2342"/>
            </a:solidFill>
            <a:prstDash val="solid"/>
          </a:ln>
          <a:effectLst>
            <a:outerShdw sx="100000" sy="100000" kx="0" ky="0" algn="bl" rotWithShape="0" blurRad="76200" dist="25400" dir="2700000">
              <a:srgbClr val="000000">
                <a:alpha val="8000"/>
              </a:srgbClr>
            </a:outerShdw>
          </a:effectLst>
        </p:spPr>
      </p:sp>
      <p:sp>
        <p:nvSpPr>
          <p:cNvPr id="12" name="Shape 9"/>
          <p:cNvSpPr/>
          <p:nvPr/>
        </p:nvSpPr>
        <p:spPr>
          <a:xfrm>
            <a:off x="2487168" y="3657600"/>
            <a:ext cx="1965960" cy="201168"/>
          </a:xfrm>
          <a:prstGeom prst="rect">
            <a:avLst/>
          </a:prstGeom>
          <a:solidFill>
            <a:srgbClr val="0A2342"/>
          </a:solidFill>
          <a:ln w="12700">
            <a:solidFill>
              <a:srgbClr val="0A2342"/>
            </a:solidFill>
            <a:prstDash val="solid"/>
          </a:ln>
        </p:spPr>
      </p:sp>
      <p:sp>
        <p:nvSpPr>
          <p:cNvPr id="13" name="Text 10"/>
          <p:cNvSpPr/>
          <p:nvPr/>
        </p:nvSpPr>
        <p:spPr>
          <a:xfrm>
            <a:off x="2560320" y="3858768"/>
            <a:ext cx="1819656" cy="804672"/>
          </a:xfrm>
          <a:prstGeom prst="rect">
            <a:avLst/>
          </a:prstGeom>
          <a:noFill/>
          <a:ln/>
        </p:spPr>
        <p:txBody>
          <a:bodyPr wrap="square" rtlCol="0" anchor="ctr"/>
          <a:lstStyle/>
          <a:p>
            <a:pPr algn="ctr" indent="0" marL="0">
              <a:buNone/>
            </a:pPr>
            <a:r>
              <a:rPr lang="en-US" sz="1250" b="1" dirty="0">
                <a:solidFill>
                  <a:srgbClr val="0A2342"/>
                </a:solidFill>
                <a:latin typeface="Calibri" pitchFamily="34" charset="0"/>
                <a:ea typeface="Calibri" pitchFamily="34" charset="-122"/>
                <a:cs typeface="Calibri" pitchFamily="34" charset="-120"/>
              </a:rPr>
              <a:t>Reduces errors</a:t>
            </a:r>
            <a:endParaRPr lang="en-US" sz="1250" dirty="0"/>
          </a:p>
        </p:txBody>
      </p:sp>
      <p:sp>
        <p:nvSpPr>
          <p:cNvPr id="14" name="Shape 11"/>
          <p:cNvSpPr/>
          <p:nvPr/>
        </p:nvSpPr>
        <p:spPr>
          <a:xfrm>
            <a:off x="4608576" y="3657600"/>
            <a:ext cx="1965960" cy="1188720"/>
          </a:xfrm>
          <a:prstGeom prst="roundRect">
            <a:avLst>
              <a:gd name="adj" fmla="val 6154"/>
            </a:avLst>
          </a:prstGeom>
          <a:solidFill>
            <a:srgbClr val="FFFFFF"/>
          </a:solidFill>
          <a:ln w="12700">
            <a:solidFill>
              <a:srgbClr val="0A2342"/>
            </a:solidFill>
            <a:prstDash val="solid"/>
          </a:ln>
          <a:effectLst>
            <a:outerShdw sx="100000" sy="100000" kx="0" ky="0" algn="bl" rotWithShape="0" blurRad="76200" dist="25400" dir="2700000">
              <a:srgbClr val="000000">
                <a:alpha val="8000"/>
              </a:srgbClr>
            </a:outerShdw>
          </a:effectLst>
        </p:spPr>
      </p:sp>
      <p:sp>
        <p:nvSpPr>
          <p:cNvPr id="15" name="Shape 12"/>
          <p:cNvSpPr/>
          <p:nvPr/>
        </p:nvSpPr>
        <p:spPr>
          <a:xfrm>
            <a:off x="4608576" y="3657600"/>
            <a:ext cx="1965960" cy="201168"/>
          </a:xfrm>
          <a:prstGeom prst="rect">
            <a:avLst/>
          </a:prstGeom>
          <a:solidFill>
            <a:srgbClr val="0A2342"/>
          </a:solidFill>
          <a:ln w="12700">
            <a:solidFill>
              <a:srgbClr val="0A2342"/>
            </a:solidFill>
            <a:prstDash val="solid"/>
          </a:ln>
        </p:spPr>
      </p:sp>
      <p:sp>
        <p:nvSpPr>
          <p:cNvPr id="16" name="Text 13"/>
          <p:cNvSpPr/>
          <p:nvPr/>
        </p:nvSpPr>
        <p:spPr>
          <a:xfrm>
            <a:off x="4681728" y="3858768"/>
            <a:ext cx="1819656" cy="804672"/>
          </a:xfrm>
          <a:prstGeom prst="rect">
            <a:avLst/>
          </a:prstGeom>
          <a:noFill/>
          <a:ln/>
        </p:spPr>
        <p:txBody>
          <a:bodyPr wrap="square" rtlCol="0" anchor="ctr"/>
          <a:lstStyle/>
          <a:p>
            <a:pPr algn="ctr" indent="0" marL="0">
              <a:buNone/>
            </a:pPr>
            <a:r>
              <a:rPr lang="en-US" sz="1250" b="1" dirty="0">
                <a:solidFill>
                  <a:srgbClr val="0A2342"/>
                </a:solidFill>
                <a:latin typeface="Calibri" pitchFamily="34" charset="0"/>
                <a:ea typeface="Calibri" pitchFamily="34" charset="-122"/>
                <a:cs typeface="Calibri" pitchFamily="34" charset="-120"/>
              </a:rPr>
              <a:t>Saves time</a:t>
            </a:r>
            <a:endParaRPr lang="en-US" sz="1250" dirty="0"/>
          </a:p>
        </p:txBody>
      </p:sp>
      <p:sp>
        <p:nvSpPr>
          <p:cNvPr id="17" name="Shape 14"/>
          <p:cNvSpPr/>
          <p:nvPr/>
        </p:nvSpPr>
        <p:spPr>
          <a:xfrm>
            <a:off x="6729984" y="3657600"/>
            <a:ext cx="1965960" cy="1188720"/>
          </a:xfrm>
          <a:prstGeom prst="roundRect">
            <a:avLst>
              <a:gd name="adj" fmla="val 6154"/>
            </a:avLst>
          </a:prstGeom>
          <a:solidFill>
            <a:srgbClr val="FFFFFF"/>
          </a:solidFill>
          <a:ln w="12700">
            <a:solidFill>
              <a:srgbClr val="0A2342"/>
            </a:solidFill>
            <a:prstDash val="solid"/>
          </a:ln>
          <a:effectLst>
            <a:outerShdw sx="100000" sy="100000" kx="0" ky="0" algn="bl" rotWithShape="0" blurRad="76200" dist="25400" dir="2700000">
              <a:srgbClr val="000000">
                <a:alpha val="8000"/>
              </a:srgbClr>
            </a:outerShdw>
          </a:effectLst>
        </p:spPr>
      </p:sp>
      <p:sp>
        <p:nvSpPr>
          <p:cNvPr id="18" name="Shape 15"/>
          <p:cNvSpPr/>
          <p:nvPr/>
        </p:nvSpPr>
        <p:spPr>
          <a:xfrm>
            <a:off x="6729984" y="3657600"/>
            <a:ext cx="1965960" cy="201168"/>
          </a:xfrm>
          <a:prstGeom prst="rect">
            <a:avLst/>
          </a:prstGeom>
          <a:solidFill>
            <a:srgbClr val="0A2342"/>
          </a:solidFill>
          <a:ln w="12700">
            <a:solidFill>
              <a:srgbClr val="0A2342"/>
            </a:solidFill>
            <a:prstDash val="solid"/>
          </a:ln>
        </p:spPr>
      </p:sp>
      <p:sp>
        <p:nvSpPr>
          <p:cNvPr id="19" name="Text 16"/>
          <p:cNvSpPr/>
          <p:nvPr/>
        </p:nvSpPr>
        <p:spPr>
          <a:xfrm>
            <a:off x="6803136" y="3858768"/>
            <a:ext cx="1819656" cy="804672"/>
          </a:xfrm>
          <a:prstGeom prst="rect">
            <a:avLst/>
          </a:prstGeom>
          <a:noFill/>
          <a:ln/>
        </p:spPr>
        <p:txBody>
          <a:bodyPr wrap="square" rtlCol="0" anchor="ctr"/>
          <a:lstStyle/>
          <a:p>
            <a:pPr algn="ctr" indent="0" marL="0">
              <a:buNone/>
            </a:pPr>
            <a:r>
              <a:rPr lang="en-US" sz="1250" b="1" dirty="0">
                <a:solidFill>
                  <a:srgbClr val="0A2342"/>
                </a:solidFill>
                <a:latin typeface="Calibri" pitchFamily="34" charset="0"/>
                <a:ea typeface="Calibri" pitchFamily="34" charset="-122"/>
                <a:cs typeface="Calibri" pitchFamily="34" charset="-120"/>
              </a:rPr>
              <a:t>Supports all institutions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342"/>
        </a:solidFill>
      </p:bgPr>
    </p:bg>
    <p:spTree>
      <p:nvGrpSpPr>
        <p:cNvPr id="1" name=""/>
        <p:cNvGrpSpPr/>
        <p:nvPr/>
      </p:nvGrpSpPr>
      <p:grpSpPr>
        <a:xfrm>
          <a:off x="0" y="0"/>
          <a:ext cx="0" cy="0"/>
          <a:chOff x="0" y="0"/>
          <a:chExt cx="0" cy="0"/>
        </a:xfrm>
      </p:grpSpPr>
      <p:sp>
        <p:nvSpPr>
          <p:cNvPr id="2" name="Shape 0"/>
          <p:cNvSpPr/>
          <p:nvPr/>
        </p:nvSpPr>
        <p:spPr>
          <a:xfrm>
            <a:off x="-1371600" y="3200400"/>
            <a:ext cx="4572000" cy="4572000"/>
          </a:xfrm>
          <a:prstGeom prst="ellipse">
            <a:avLst/>
          </a:prstGeom>
          <a:solidFill>
            <a:srgbClr val="028090">
              <a:alpha val="20000"/>
            </a:srgbClr>
          </a:solidFill>
          <a:ln w="12700">
            <a:solidFill>
              <a:srgbClr val="028090">
                <a:alpha val="20000"/>
              </a:srgbClr>
            </a:solidFill>
            <a:prstDash val="solid"/>
          </a:ln>
        </p:spPr>
      </p:sp>
      <p:sp>
        <p:nvSpPr>
          <p:cNvPr id="3" name="Shape 1"/>
          <p:cNvSpPr/>
          <p:nvPr/>
        </p:nvSpPr>
        <p:spPr>
          <a:xfrm>
            <a:off x="6400800" y="-1371600"/>
            <a:ext cx="4572000" cy="4572000"/>
          </a:xfrm>
          <a:prstGeom prst="ellipse">
            <a:avLst/>
          </a:prstGeom>
          <a:solidFill>
            <a:srgbClr val="02C39A">
              <a:alpha val="18000"/>
            </a:srgbClr>
          </a:solidFill>
          <a:ln w="12700">
            <a:solidFill>
              <a:srgbClr val="02C39A">
                <a:alpha val="18000"/>
              </a:srgbClr>
            </a:solidFill>
            <a:prstDash val="solid"/>
          </a:ln>
        </p:spPr>
      </p:sp>
      <p:pic>
        <p:nvPicPr>
          <p:cNvPr id="4" name="Image 0" descr="/home/claude/pptx_media/ppt/media/image3.png">    </p:cNvPr>
          <p:cNvPicPr>
            <a:picLocks noChangeAspect="1"/>
          </p:cNvPicPr>
          <p:nvPr/>
        </p:nvPicPr>
        <p:blipFill>
          <a:blip r:embed="rId1"/>
          <a:stretch>
            <a:fillRect/>
          </a:stretch>
        </p:blipFill>
        <p:spPr>
          <a:xfrm>
            <a:off x="3657600" y="320040"/>
            <a:ext cx="1828800" cy="822960"/>
          </a:xfrm>
          <a:prstGeom prst="rect">
            <a:avLst/>
          </a:prstGeom>
        </p:spPr>
      </p:pic>
      <p:sp>
        <p:nvSpPr>
          <p:cNvPr id="5" name="Text 2"/>
          <p:cNvSpPr/>
          <p:nvPr/>
        </p:nvSpPr>
        <p:spPr>
          <a:xfrm>
            <a:off x="914400" y="1417320"/>
            <a:ext cx="7315200" cy="1280160"/>
          </a:xfrm>
          <a:prstGeom prst="rect">
            <a:avLst/>
          </a:prstGeom>
          <a:noFill/>
          <a:ln/>
        </p:spPr>
        <p:txBody>
          <a:bodyPr wrap="square" rtlCol="0" anchor="ctr"/>
          <a:lstStyle/>
          <a:p>
            <a:pPr algn="ctr" indent="0" marL="0">
              <a:buNone/>
            </a:pPr>
            <a:r>
              <a:rPr lang="en-US" sz="6200" b="1" dirty="0">
                <a:solidFill>
                  <a:srgbClr val="02C39A"/>
                </a:solidFill>
                <a:latin typeface="Cambria" pitchFamily="34" charset="0"/>
                <a:ea typeface="Cambria" pitchFamily="34" charset="-122"/>
                <a:cs typeface="Cambria" pitchFamily="34" charset="-120"/>
              </a:rPr>
              <a:t>Thank You</a:t>
            </a:r>
            <a:endParaRPr lang="en-US" sz="6200" dirty="0"/>
          </a:p>
        </p:txBody>
      </p:sp>
      <p:sp>
        <p:nvSpPr>
          <p:cNvPr id="6" name="Shape 3"/>
          <p:cNvSpPr/>
          <p:nvPr/>
        </p:nvSpPr>
        <p:spPr>
          <a:xfrm>
            <a:off x="3200400" y="2834640"/>
            <a:ext cx="2743200" cy="45720"/>
          </a:xfrm>
          <a:prstGeom prst="rect">
            <a:avLst/>
          </a:prstGeom>
          <a:solidFill>
            <a:srgbClr val="FFFFFF"/>
          </a:solidFill>
          <a:ln w="12700">
            <a:solidFill>
              <a:srgbClr val="FFFFFF"/>
            </a:solidFill>
            <a:prstDash val="solid"/>
          </a:ln>
        </p:spPr>
      </p:sp>
      <p:sp>
        <p:nvSpPr>
          <p:cNvPr id="7" name="Text 4"/>
          <p:cNvSpPr/>
          <p:nvPr/>
        </p:nvSpPr>
        <p:spPr>
          <a:xfrm>
            <a:off x="914400" y="3017520"/>
            <a:ext cx="7315200" cy="548640"/>
          </a:xfrm>
          <a:prstGeom prst="rect">
            <a:avLst/>
          </a:prstGeom>
          <a:noFill/>
          <a:ln/>
        </p:spPr>
        <p:txBody>
          <a:bodyPr wrap="square" rtlCol="0" anchor="ctr"/>
          <a:lstStyle/>
          <a:p>
            <a:pPr algn="ctr" indent="0" marL="0">
              <a:buNone/>
            </a:pPr>
            <a:r>
              <a:rPr lang="en-US" sz="1800" dirty="0">
                <a:solidFill>
                  <a:srgbClr val="A8D8E8"/>
                </a:solidFill>
                <a:latin typeface="Calibri" pitchFamily="34" charset="0"/>
                <a:ea typeface="Calibri" pitchFamily="34" charset="-122"/>
                <a:cs typeface="Calibri" pitchFamily="34" charset="-120"/>
              </a:rPr>
              <a:t>Exam Seating Arrangement System</a:t>
            </a:r>
            <a:endParaRPr lang="en-US" sz="1800" dirty="0"/>
          </a:p>
        </p:txBody>
      </p:sp>
      <p:sp>
        <p:nvSpPr>
          <p:cNvPr id="8" name="Text 5"/>
          <p:cNvSpPr/>
          <p:nvPr/>
        </p:nvSpPr>
        <p:spPr>
          <a:xfrm>
            <a:off x="457200" y="3749040"/>
            <a:ext cx="8229600" cy="640080"/>
          </a:xfrm>
          <a:prstGeom prst="rect">
            <a:avLst/>
          </a:prstGeom>
          <a:noFill/>
          <a:ln/>
        </p:spPr>
        <p:txBody>
          <a:bodyPr wrap="square" rtlCol="0" anchor="ctr"/>
          <a:lstStyle/>
          <a:p>
            <a:pPr algn="ctr" indent="0" marL="0">
              <a:buNone/>
            </a:pPr>
            <a:r>
              <a:rPr lang="en-US" sz="1300" dirty="0">
                <a:solidFill>
                  <a:srgbClr val="7AAFC4"/>
                </a:solidFill>
                <a:latin typeface="Calibri" pitchFamily="34" charset="0"/>
                <a:ea typeface="Calibri" pitchFamily="34" charset="-122"/>
                <a:cs typeface="Calibri" pitchFamily="34" charset="-120"/>
              </a:rPr>
              <a:t>2520030049 – Sarvesh Reddy  |  2520090030 – Jagadeesh  |  2520090071 – Vignesh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 Seating Arrangement System</dc:title>
  <dc:subject>PptxGenJS Presentation</dc:subject>
  <dc:creator>PptxGenJS</dc:creator>
  <cp:lastModifiedBy>PptxGenJS</cp:lastModifiedBy>
  <cp:revision>1</cp:revision>
  <dcterms:created xsi:type="dcterms:W3CDTF">2026-06-15T14:43:29Z</dcterms:created>
  <dcterms:modified xsi:type="dcterms:W3CDTF">2026-06-15T14:43:29Z</dcterms:modified>
</cp:coreProperties>
</file>